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Part sous-nutrition dans le monde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Part sous-nutrition dans le monde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E32-4FD7-9589-7B110D0B18A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E32-4FD7-9589-7B110D0B18A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E32-4FD7-9589-7B110D0B18A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E32-4FD7-9589-7B110D0B18A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1"/>
                <c:pt idx="0">
                  <c:v>sous-nutris</c:v>
                </c:pt>
              </c:strCache>
            </c:strRef>
          </c:cat>
          <c:val>
            <c:numRef>
              <c:f>Feuil1!$B$2:$B$5</c:f>
              <c:numCache>
                <c:formatCode>0%</c:formatCode>
                <c:ptCount val="4"/>
                <c:pt idx="0" formatCode="0.00%">
                  <c:v>7.0999999999999994E-2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25-497F-BF24-751080D80863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99F6A3-14D3-44A0-AB02-F7335582DD0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4A33B5E-ACD9-46D9-B94B-52CD6F62F234}">
      <dgm:prSet phldrT="[Texte]"/>
      <dgm:spPr/>
      <dgm:t>
        <a:bodyPr/>
        <a:lstStyle/>
        <a:p>
          <a:r>
            <a:rPr lang="fr-FR" dirty="0"/>
            <a:t>Les disponibilités alimentaires de 174 pays </a:t>
          </a:r>
        </a:p>
      </dgm:t>
    </dgm:pt>
    <dgm:pt modelId="{E0AD634B-7F40-4F9C-8F4A-B41F0DB78B4B}" type="parTrans" cxnId="{B836121B-A3CA-44D1-AD9C-9D6E6BF998FB}">
      <dgm:prSet/>
      <dgm:spPr/>
      <dgm:t>
        <a:bodyPr/>
        <a:lstStyle/>
        <a:p>
          <a:endParaRPr lang="fr-FR"/>
        </a:p>
      </dgm:t>
    </dgm:pt>
    <dgm:pt modelId="{7D533E54-7371-45E1-86E5-87B6CD7A8BF2}" type="sibTrans" cxnId="{B836121B-A3CA-44D1-AD9C-9D6E6BF998FB}">
      <dgm:prSet/>
      <dgm:spPr/>
      <dgm:t>
        <a:bodyPr/>
        <a:lstStyle/>
        <a:p>
          <a:endParaRPr lang="fr-FR"/>
        </a:p>
      </dgm:t>
    </dgm:pt>
    <dgm:pt modelId="{04B94C8D-A3A2-44D8-816D-5BA55CDFBBC5}">
      <dgm:prSet phldrT="[Texte]"/>
      <dgm:spPr/>
      <dgm:t>
        <a:bodyPr/>
        <a:lstStyle/>
        <a:p>
          <a:r>
            <a:rPr lang="fr-FR" dirty="0"/>
            <a:t>Les valeurs de sous-nutrition pour 203 pays de 2013 à 2019</a:t>
          </a:r>
        </a:p>
      </dgm:t>
    </dgm:pt>
    <dgm:pt modelId="{66FA1169-35D2-45B8-AD3C-7563C5430384}" type="parTrans" cxnId="{6A05183F-493F-41B7-AA76-4FCC183D33BE}">
      <dgm:prSet/>
      <dgm:spPr/>
      <dgm:t>
        <a:bodyPr/>
        <a:lstStyle/>
        <a:p>
          <a:endParaRPr lang="fr-FR"/>
        </a:p>
      </dgm:t>
    </dgm:pt>
    <dgm:pt modelId="{FF68E034-C302-4207-B727-1601D389307A}" type="sibTrans" cxnId="{6A05183F-493F-41B7-AA76-4FCC183D33BE}">
      <dgm:prSet/>
      <dgm:spPr/>
      <dgm:t>
        <a:bodyPr/>
        <a:lstStyle/>
        <a:p>
          <a:endParaRPr lang="fr-FR"/>
        </a:p>
      </dgm:t>
    </dgm:pt>
    <dgm:pt modelId="{9ED0043E-B55B-4E0F-9110-0245C826AA73}">
      <dgm:prSet phldrT="[Texte]"/>
      <dgm:spPr/>
      <dgm:t>
        <a:bodyPr/>
        <a:lstStyle/>
        <a:p>
          <a:r>
            <a:rPr lang="fr-FR" dirty="0"/>
            <a:t>La population de 236 pays de 2013 à 2018</a:t>
          </a:r>
        </a:p>
      </dgm:t>
    </dgm:pt>
    <dgm:pt modelId="{9E8C937A-1AAD-4DB9-880A-7C1E64A84841}" type="parTrans" cxnId="{322AF9BB-208F-497A-B0C9-586EB33B2016}">
      <dgm:prSet/>
      <dgm:spPr/>
      <dgm:t>
        <a:bodyPr/>
        <a:lstStyle/>
        <a:p>
          <a:endParaRPr lang="fr-FR"/>
        </a:p>
      </dgm:t>
    </dgm:pt>
    <dgm:pt modelId="{DF1688E3-F288-4F99-A9DC-94C90983AF63}" type="sibTrans" cxnId="{322AF9BB-208F-497A-B0C9-586EB33B2016}">
      <dgm:prSet/>
      <dgm:spPr/>
      <dgm:t>
        <a:bodyPr/>
        <a:lstStyle/>
        <a:p>
          <a:endParaRPr lang="fr-FR"/>
        </a:p>
      </dgm:t>
    </dgm:pt>
    <dgm:pt modelId="{FE55581D-23B6-4E4F-82D4-7520C0D6A1CF}">
      <dgm:prSet phldrT="[Texte]"/>
      <dgm:spPr/>
      <dgm:t>
        <a:bodyPr/>
        <a:lstStyle/>
        <a:p>
          <a:r>
            <a:rPr lang="fr-FR" dirty="0"/>
            <a:t>Les aides alimentaires de 76 pays de 2013 à 2016</a:t>
          </a:r>
        </a:p>
      </dgm:t>
    </dgm:pt>
    <dgm:pt modelId="{886301F4-DF62-4685-A393-7B91E0099F49}" type="parTrans" cxnId="{4E99183C-3B3E-4F34-95E7-653AA2CD4682}">
      <dgm:prSet/>
      <dgm:spPr/>
      <dgm:t>
        <a:bodyPr/>
        <a:lstStyle/>
        <a:p>
          <a:endParaRPr lang="fr-FR"/>
        </a:p>
      </dgm:t>
    </dgm:pt>
    <dgm:pt modelId="{42EE08BE-C60C-4A55-91E7-9C386DE3F973}" type="sibTrans" cxnId="{4E99183C-3B3E-4F34-95E7-653AA2CD4682}">
      <dgm:prSet/>
      <dgm:spPr/>
      <dgm:t>
        <a:bodyPr/>
        <a:lstStyle/>
        <a:p>
          <a:endParaRPr lang="fr-FR"/>
        </a:p>
      </dgm:t>
    </dgm:pt>
    <dgm:pt modelId="{AE5C654A-C47E-4DB4-8FCB-E64D8FAB9E89}" type="pres">
      <dgm:prSet presAssocID="{4D99F6A3-14D3-44A0-AB02-F7335582DD0B}" presName="matrix" presStyleCnt="0">
        <dgm:presLayoutVars>
          <dgm:chMax val="1"/>
          <dgm:dir/>
          <dgm:resizeHandles val="exact"/>
        </dgm:presLayoutVars>
      </dgm:prSet>
      <dgm:spPr/>
    </dgm:pt>
    <dgm:pt modelId="{13D7EACB-2A97-46A4-AEE5-774055C5A578}" type="pres">
      <dgm:prSet presAssocID="{4D99F6A3-14D3-44A0-AB02-F7335582DD0B}" presName="diamond" presStyleLbl="bgShp" presStyleIdx="0" presStyleCnt="1"/>
      <dgm:spPr/>
    </dgm:pt>
    <dgm:pt modelId="{23144A96-E58A-4147-888D-C9DE51C605FA}" type="pres">
      <dgm:prSet presAssocID="{4D99F6A3-14D3-44A0-AB02-F7335582DD0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FAA7A90-A3A6-4CF9-A018-5F310B0A10CC}" type="pres">
      <dgm:prSet presAssocID="{4D99F6A3-14D3-44A0-AB02-F7335582DD0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B50A6E9-3F5E-47D9-9CDB-4B5868D04354}" type="pres">
      <dgm:prSet presAssocID="{4D99F6A3-14D3-44A0-AB02-F7335582DD0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6283AB8-7EA6-46F3-9CFB-F8B786EF2CA2}" type="pres">
      <dgm:prSet presAssocID="{4D99F6A3-14D3-44A0-AB02-F7335582DD0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DB70E0D-A02A-4C2B-8AC0-C43E8BED1F21}" type="presOf" srcId="{B4A33B5E-ACD9-46D9-B94B-52CD6F62F234}" destId="{23144A96-E58A-4147-888D-C9DE51C605FA}" srcOrd="0" destOrd="0" presId="urn:microsoft.com/office/officeart/2005/8/layout/matrix3"/>
    <dgm:cxn modelId="{3D612415-542D-4577-B71A-FF26E59CF9FB}" type="presOf" srcId="{4D99F6A3-14D3-44A0-AB02-F7335582DD0B}" destId="{AE5C654A-C47E-4DB4-8FCB-E64D8FAB9E89}" srcOrd="0" destOrd="0" presId="urn:microsoft.com/office/officeart/2005/8/layout/matrix3"/>
    <dgm:cxn modelId="{B836121B-A3CA-44D1-AD9C-9D6E6BF998FB}" srcId="{4D99F6A3-14D3-44A0-AB02-F7335582DD0B}" destId="{B4A33B5E-ACD9-46D9-B94B-52CD6F62F234}" srcOrd="0" destOrd="0" parTransId="{E0AD634B-7F40-4F9C-8F4A-B41F0DB78B4B}" sibTransId="{7D533E54-7371-45E1-86E5-87B6CD7A8BF2}"/>
    <dgm:cxn modelId="{4E99183C-3B3E-4F34-95E7-653AA2CD4682}" srcId="{4D99F6A3-14D3-44A0-AB02-F7335582DD0B}" destId="{FE55581D-23B6-4E4F-82D4-7520C0D6A1CF}" srcOrd="3" destOrd="0" parTransId="{886301F4-DF62-4685-A393-7B91E0099F49}" sibTransId="{42EE08BE-C60C-4A55-91E7-9C386DE3F973}"/>
    <dgm:cxn modelId="{6A05183F-493F-41B7-AA76-4FCC183D33BE}" srcId="{4D99F6A3-14D3-44A0-AB02-F7335582DD0B}" destId="{04B94C8D-A3A2-44D8-816D-5BA55CDFBBC5}" srcOrd="1" destOrd="0" parTransId="{66FA1169-35D2-45B8-AD3C-7563C5430384}" sibTransId="{FF68E034-C302-4207-B727-1601D389307A}"/>
    <dgm:cxn modelId="{4E166E6C-40E8-4A67-B51C-6C96BBB821C9}" type="presOf" srcId="{04B94C8D-A3A2-44D8-816D-5BA55CDFBBC5}" destId="{5FAA7A90-A3A6-4CF9-A018-5F310B0A10CC}" srcOrd="0" destOrd="0" presId="urn:microsoft.com/office/officeart/2005/8/layout/matrix3"/>
    <dgm:cxn modelId="{322AF9BB-208F-497A-B0C9-586EB33B2016}" srcId="{4D99F6A3-14D3-44A0-AB02-F7335582DD0B}" destId="{9ED0043E-B55B-4E0F-9110-0245C826AA73}" srcOrd="2" destOrd="0" parTransId="{9E8C937A-1AAD-4DB9-880A-7C1E64A84841}" sibTransId="{DF1688E3-F288-4F99-A9DC-94C90983AF63}"/>
    <dgm:cxn modelId="{0C9FB9D2-1AEE-4F5B-9016-FE1F92575444}" type="presOf" srcId="{FE55581D-23B6-4E4F-82D4-7520C0D6A1CF}" destId="{96283AB8-7EA6-46F3-9CFB-F8B786EF2CA2}" srcOrd="0" destOrd="0" presId="urn:microsoft.com/office/officeart/2005/8/layout/matrix3"/>
    <dgm:cxn modelId="{1A221AFC-2AEE-4811-89DC-4832E27CFB49}" type="presOf" srcId="{9ED0043E-B55B-4E0F-9110-0245C826AA73}" destId="{8B50A6E9-3F5E-47D9-9CDB-4B5868D04354}" srcOrd="0" destOrd="0" presId="urn:microsoft.com/office/officeart/2005/8/layout/matrix3"/>
    <dgm:cxn modelId="{34B8AE3F-BC69-42DC-8891-030F3E48C290}" type="presParOf" srcId="{AE5C654A-C47E-4DB4-8FCB-E64D8FAB9E89}" destId="{13D7EACB-2A97-46A4-AEE5-774055C5A578}" srcOrd="0" destOrd="0" presId="urn:microsoft.com/office/officeart/2005/8/layout/matrix3"/>
    <dgm:cxn modelId="{4F1C7105-B659-43F4-B06E-A9341BF3325B}" type="presParOf" srcId="{AE5C654A-C47E-4DB4-8FCB-E64D8FAB9E89}" destId="{23144A96-E58A-4147-888D-C9DE51C605FA}" srcOrd="1" destOrd="0" presId="urn:microsoft.com/office/officeart/2005/8/layout/matrix3"/>
    <dgm:cxn modelId="{415AEA07-CCCC-4C62-B6C5-52CDCD6F6FA6}" type="presParOf" srcId="{AE5C654A-C47E-4DB4-8FCB-E64D8FAB9E89}" destId="{5FAA7A90-A3A6-4CF9-A018-5F310B0A10CC}" srcOrd="2" destOrd="0" presId="urn:microsoft.com/office/officeart/2005/8/layout/matrix3"/>
    <dgm:cxn modelId="{0836B1C3-FFC0-4A94-8D22-12C062AFCCDC}" type="presParOf" srcId="{AE5C654A-C47E-4DB4-8FCB-E64D8FAB9E89}" destId="{8B50A6E9-3F5E-47D9-9CDB-4B5868D04354}" srcOrd="3" destOrd="0" presId="urn:microsoft.com/office/officeart/2005/8/layout/matrix3"/>
    <dgm:cxn modelId="{8C3B86A8-7EDF-4355-A392-C59592CC111A}" type="presParOf" srcId="{AE5C654A-C47E-4DB4-8FCB-E64D8FAB9E89}" destId="{96283AB8-7EA6-46F3-9CFB-F8B786EF2CA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1834AC-8EF0-4BD2-AA17-F78B103593B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E5B8094-B481-48E2-A658-736D8007B827}">
      <dgm:prSet phldrT="[Texte]"/>
      <dgm:spPr/>
      <dgm:t>
        <a:bodyPr/>
        <a:lstStyle/>
        <a:p>
          <a:r>
            <a:rPr lang="fr-FR" dirty="0"/>
            <a:t>Caractéristiques du jeu de données</a:t>
          </a:r>
        </a:p>
      </dgm:t>
    </dgm:pt>
    <dgm:pt modelId="{5EEE1896-D381-4251-A1F5-6ACD9765A307}" type="parTrans" cxnId="{CADD1590-35CA-41F6-B42C-09AC5E174A8B}">
      <dgm:prSet/>
      <dgm:spPr/>
      <dgm:t>
        <a:bodyPr/>
        <a:lstStyle/>
        <a:p>
          <a:endParaRPr lang="fr-FR"/>
        </a:p>
      </dgm:t>
    </dgm:pt>
    <dgm:pt modelId="{FB749A3A-7B92-4DB6-B921-2C384334FED0}" type="sibTrans" cxnId="{CADD1590-35CA-41F6-B42C-09AC5E174A8B}">
      <dgm:prSet/>
      <dgm:spPr/>
      <dgm:t>
        <a:bodyPr/>
        <a:lstStyle/>
        <a:p>
          <a:endParaRPr lang="fr-FR"/>
        </a:p>
      </dgm:t>
    </dgm:pt>
    <dgm:pt modelId="{9403D33F-1C76-41D5-BA24-CF3534DCD846}">
      <dgm:prSet phldrT="[Texte]"/>
      <dgm:spPr/>
      <dgm:t>
        <a:bodyPr/>
        <a:lstStyle/>
        <a:p>
          <a:r>
            <a:rPr lang="fr-FR" dirty="0"/>
            <a:t>Dimensions du jeu</a:t>
          </a:r>
        </a:p>
      </dgm:t>
    </dgm:pt>
    <dgm:pt modelId="{CD5B6773-0A7A-45FF-B147-E300D39B7307}" type="parTrans" cxnId="{F9CFC087-2B27-4D59-89B3-8852DE4F1FD6}">
      <dgm:prSet/>
      <dgm:spPr/>
      <dgm:t>
        <a:bodyPr/>
        <a:lstStyle/>
        <a:p>
          <a:endParaRPr lang="fr-FR"/>
        </a:p>
      </dgm:t>
    </dgm:pt>
    <dgm:pt modelId="{98C70A5E-4C83-4BC2-B328-083C3E6C4406}" type="sibTrans" cxnId="{F9CFC087-2B27-4D59-89B3-8852DE4F1FD6}">
      <dgm:prSet/>
      <dgm:spPr/>
      <dgm:t>
        <a:bodyPr/>
        <a:lstStyle/>
        <a:p>
          <a:endParaRPr lang="fr-FR"/>
        </a:p>
      </dgm:t>
    </dgm:pt>
    <dgm:pt modelId="{86F8ECA5-932E-4B32-9DE9-79DFE88E81DB}">
      <dgm:prSet phldrT="[Texte]"/>
      <dgm:spPr/>
      <dgm:t>
        <a:bodyPr/>
        <a:lstStyle/>
        <a:p>
          <a:r>
            <a:rPr lang="fr-FR" dirty="0"/>
            <a:t>Nature des colonnes des données </a:t>
          </a:r>
        </a:p>
      </dgm:t>
    </dgm:pt>
    <dgm:pt modelId="{132886BD-2321-41DE-AFE0-FDF190D8641B}" type="parTrans" cxnId="{0771AFED-5AFA-4397-911A-8FD5F5ED42D7}">
      <dgm:prSet/>
      <dgm:spPr/>
      <dgm:t>
        <a:bodyPr/>
        <a:lstStyle/>
        <a:p>
          <a:endParaRPr lang="fr-FR"/>
        </a:p>
      </dgm:t>
    </dgm:pt>
    <dgm:pt modelId="{9310EE9F-1723-4C5D-9354-A69E9A2377D6}" type="sibTrans" cxnId="{0771AFED-5AFA-4397-911A-8FD5F5ED42D7}">
      <dgm:prSet/>
      <dgm:spPr/>
      <dgm:t>
        <a:bodyPr/>
        <a:lstStyle/>
        <a:p>
          <a:endParaRPr lang="fr-FR"/>
        </a:p>
      </dgm:t>
    </dgm:pt>
    <dgm:pt modelId="{D7BEC972-E560-4E4C-BBE0-02D23D71EBC3}">
      <dgm:prSet phldrT="[Texte]"/>
      <dgm:spPr/>
      <dgm:t>
        <a:bodyPr/>
        <a:lstStyle/>
        <a:p>
          <a:r>
            <a:rPr lang="fr-FR" dirty="0"/>
            <a:t>Transformations du jeu de données </a:t>
          </a:r>
        </a:p>
      </dgm:t>
    </dgm:pt>
    <dgm:pt modelId="{56117622-3228-4DC2-8D75-61010F86F158}" type="parTrans" cxnId="{A3359498-49A0-4804-B887-328DF90F4DC3}">
      <dgm:prSet/>
      <dgm:spPr/>
      <dgm:t>
        <a:bodyPr/>
        <a:lstStyle/>
        <a:p>
          <a:endParaRPr lang="fr-FR"/>
        </a:p>
      </dgm:t>
    </dgm:pt>
    <dgm:pt modelId="{D1716DBC-676A-479A-8E09-83542613CA7E}" type="sibTrans" cxnId="{A3359498-49A0-4804-B887-328DF90F4DC3}">
      <dgm:prSet/>
      <dgm:spPr/>
      <dgm:t>
        <a:bodyPr/>
        <a:lstStyle/>
        <a:p>
          <a:endParaRPr lang="fr-FR"/>
        </a:p>
      </dgm:t>
    </dgm:pt>
    <dgm:pt modelId="{37DD92A7-6CA1-408A-B1BF-6F2EEF4F8997}">
      <dgm:prSet phldrT="[Texte]"/>
      <dgm:spPr/>
      <dgm:t>
        <a:bodyPr/>
        <a:lstStyle/>
        <a:p>
          <a:r>
            <a:rPr lang="fr-FR" dirty="0"/>
            <a:t>conversion des valeurs (pour passer des tonnes aux </a:t>
          </a:r>
          <a:r>
            <a:rPr lang="fr-FR" dirty="0" err="1"/>
            <a:t>kgs</a:t>
          </a:r>
          <a:r>
            <a:rPr lang="fr-FR" dirty="0"/>
            <a:t>)</a:t>
          </a:r>
        </a:p>
      </dgm:t>
    </dgm:pt>
    <dgm:pt modelId="{4B89C26B-95F5-4727-A7E1-DD1A14D6122A}" type="parTrans" cxnId="{22B0EFC0-16BB-42A8-988C-87D6FC7A3593}">
      <dgm:prSet/>
      <dgm:spPr/>
      <dgm:t>
        <a:bodyPr/>
        <a:lstStyle/>
        <a:p>
          <a:endParaRPr lang="fr-FR"/>
        </a:p>
      </dgm:t>
    </dgm:pt>
    <dgm:pt modelId="{ADF01E95-7100-487C-99E7-1797C96A3A15}" type="sibTrans" cxnId="{22B0EFC0-16BB-42A8-988C-87D6FC7A3593}">
      <dgm:prSet/>
      <dgm:spPr/>
      <dgm:t>
        <a:bodyPr/>
        <a:lstStyle/>
        <a:p>
          <a:endParaRPr lang="fr-FR"/>
        </a:p>
      </dgm:t>
    </dgm:pt>
    <dgm:pt modelId="{DA6B998C-08FB-4F0D-A3D7-0A8A4965119C}">
      <dgm:prSet phldrT="[Texte]"/>
      <dgm:spPr/>
      <dgm:t>
        <a:bodyPr/>
        <a:lstStyle/>
        <a:p>
          <a:r>
            <a:rPr lang="fr-FR" dirty="0"/>
            <a:t>Renommage du nom de certaines colonne </a:t>
          </a:r>
        </a:p>
      </dgm:t>
    </dgm:pt>
    <dgm:pt modelId="{B77C9D33-BADC-435F-A2CE-8F37F4E44DB0}" type="parTrans" cxnId="{56176A00-A737-453F-B74A-26459EA30CAE}">
      <dgm:prSet/>
      <dgm:spPr/>
      <dgm:t>
        <a:bodyPr/>
        <a:lstStyle/>
        <a:p>
          <a:endParaRPr lang="fr-FR"/>
        </a:p>
      </dgm:t>
    </dgm:pt>
    <dgm:pt modelId="{77DA7E9E-3A74-45F6-AFF8-36D67429A610}" type="sibTrans" cxnId="{56176A00-A737-453F-B74A-26459EA30CAE}">
      <dgm:prSet/>
      <dgm:spPr/>
      <dgm:t>
        <a:bodyPr/>
        <a:lstStyle/>
        <a:p>
          <a:endParaRPr lang="fr-FR"/>
        </a:p>
      </dgm:t>
    </dgm:pt>
    <dgm:pt modelId="{74B9B2D7-819A-45F0-BA0E-15B655468EE8}">
      <dgm:prSet phldrT="[Texte]"/>
      <dgm:spPr/>
      <dgm:t>
        <a:bodyPr/>
        <a:lstStyle/>
        <a:p>
          <a:r>
            <a:rPr lang="fr-FR" dirty="0"/>
            <a:t>Affichage</a:t>
          </a:r>
        </a:p>
      </dgm:t>
    </dgm:pt>
    <dgm:pt modelId="{EA74F111-78F3-469F-9241-B9689695F13D}" type="parTrans" cxnId="{70C64DFB-AF77-4287-A81A-D504651723DD}">
      <dgm:prSet/>
      <dgm:spPr/>
      <dgm:t>
        <a:bodyPr/>
        <a:lstStyle/>
        <a:p>
          <a:endParaRPr lang="fr-FR"/>
        </a:p>
      </dgm:t>
    </dgm:pt>
    <dgm:pt modelId="{23A23FAC-AF12-438C-AF24-EC4C4656B20B}" type="sibTrans" cxnId="{70C64DFB-AF77-4287-A81A-D504651723DD}">
      <dgm:prSet/>
      <dgm:spPr/>
      <dgm:t>
        <a:bodyPr/>
        <a:lstStyle/>
        <a:p>
          <a:endParaRPr lang="fr-FR"/>
        </a:p>
      </dgm:t>
    </dgm:pt>
    <dgm:pt modelId="{CA67947F-F1F5-4003-B119-CA4B16CB9308}">
      <dgm:prSet phldrT="[Texte]"/>
      <dgm:spPr/>
      <dgm:t>
        <a:bodyPr/>
        <a:lstStyle/>
        <a:p>
          <a:r>
            <a:rPr lang="fr-FR" dirty="0"/>
            <a:t>Les premières lignes de la table</a:t>
          </a:r>
        </a:p>
      </dgm:t>
    </dgm:pt>
    <dgm:pt modelId="{C70CC549-F24A-4DA9-A0B2-267C2C79FBD3}" type="parTrans" cxnId="{CC27FDF5-5AA3-4AF8-9587-1CE1B18147A9}">
      <dgm:prSet/>
      <dgm:spPr/>
      <dgm:t>
        <a:bodyPr/>
        <a:lstStyle/>
        <a:p>
          <a:endParaRPr lang="fr-FR"/>
        </a:p>
      </dgm:t>
    </dgm:pt>
    <dgm:pt modelId="{52DC7731-6D57-4593-BE3C-014C2E486241}" type="sibTrans" cxnId="{CC27FDF5-5AA3-4AF8-9587-1CE1B18147A9}">
      <dgm:prSet/>
      <dgm:spPr/>
      <dgm:t>
        <a:bodyPr/>
        <a:lstStyle/>
        <a:p>
          <a:endParaRPr lang="fr-FR"/>
        </a:p>
      </dgm:t>
    </dgm:pt>
    <dgm:pt modelId="{454E18AF-DDF8-4245-83D2-378396DB04C6}">
      <dgm:prSet phldrT="[Texte]"/>
      <dgm:spPr/>
      <dgm:t>
        <a:bodyPr/>
        <a:lstStyle/>
        <a:p>
          <a:r>
            <a:rPr lang="fr-FR" dirty="0"/>
            <a:t>Remplacement des valeurs non numériques </a:t>
          </a:r>
        </a:p>
      </dgm:t>
    </dgm:pt>
    <dgm:pt modelId="{0F32B471-7F58-49F9-BC09-E8E5FCA50C71}" type="parTrans" cxnId="{61AE188E-9AFC-49DA-B92C-2D2D65ACB4CB}">
      <dgm:prSet/>
      <dgm:spPr/>
      <dgm:t>
        <a:bodyPr/>
        <a:lstStyle/>
        <a:p>
          <a:endParaRPr lang="fr-FR"/>
        </a:p>
      </dgm:t>
    </dgm:pt>
    <dgm:pt modelId="{3EDB5FDE-7D55-463E-A566-98E23C037D71}" type="sibTrans" cxnId="{61AE188E-9AFC-49DA-B92C-2D2D65ACB4CB}">
      <dgm:prSet/>
      <dgm:spPr/>
      <dgm:t>
        <a:bodyPr/>
        <a:lstStyle/>
        <a:p>
          <a:endParaRPr lang="fr-FR"/>
        </a:p>
      </dgm:t>
    </dgm:pt>
    <dgm:pt modelId="{EBCB5165-BEE0-4D0C-B87F-6732BC6CA226}" type="pres">
      <dgm:prSet presAssocID="{F21834AC-8EF0-4BD2-AA17-F78B103593BC}" presName="Name0" presStyleCnt="0">
        <dgm:presLayoutVars>
          <dgm:dir/>
          <dgm:animLvl val="lvl"/>
          <dgm:resizeHandles val="exact"/>
        </dgm:presLayoutVars>
      </dgm:prSet>
      <dgm:spPr/>
    </dgm:pt>
    <dgm:pt modelId="{8E109A3C-2567-43C9-B0BD-1E0418CABEFC}" type="pres">
      <dgm:prSet presAssocID="{6E5B8094-B481-48E2-A658-736D8007B827}" presName="composite" presStyleCnt="0"/>
      <dgm:spPr/>
    </dgm:pt>
    <dgm:pt modelId="{A73B4865-65DA-472D-9CFE-BB7AA1671AAF}" type="pres">
      <dgm:prSet presAssocID="{6E5B8094-B481-48E2-A658-736D8007B82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E90A7EE-46FC-4682-AE91-0314E034046B}" type="pres">
      <dgm:prSet presAssocID="{6E5B8094-B481-48E2-A658-736D8007B827}" presName="desTx" presStyleLbl="alignAccFollowNode1" presStyleIdx="0" presStyleCnt="3">
        <dgm:presLayoutVars>
          <dgm:bulletEnabled val="1"/>
        </dgm:presLayoutVars>
      </dgm:prSet>
      <dgm:spPr/>
    </dgm:pt>
    <dgm:pt modelId="{D82943AF-165D-4956-92F3-F985DE06E758}" type="pres">
      <dgm:prSet presAssocID="{FB749A3A-7B92-4DB6-B921-2C384334FED0}" presName="space" presStyleCnt="0"/>
      <dgm:spPr/>
    </dgm:pt>
    <dgm:pt modelId="{31EA6B1C-7162-48CF-A7B4-9A48661E20E6}" type="pres">
      <dgm:prSet presAssocID="{D7BEC972-E560-4E4C-BBE0-02D23D71EBC3}" presName="composite" presStyleCnt="0"/>
      <dgm:spPr/>
    </dgm:pt>
    <dgm:pt modelId="{66A7E486-5101-43D2-BEC1-CD01D81C8B83}" type="pres">
      <dgm:prSet presAssocID="{D7BEC972-E560-4E4C-BBE0-02D23D71EBC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9223AC0-4C59-4B07-83C5-1A996B9AD540}" type="pres">
      <dgm:prSet presAssocID="{D7BEC972-E560-4E4C-BBE0-02D23D71EBC3}" presName="desTx" presStyleLbl="alignAccFollowNode1" presStyleIdx="1" presStyleCnt="3">
        <dgm:presLayoutVars>
          <dgm:bulletEnabled val="1"/>
        </dgm:presLayoutVars>
      </dgm:prSet>
      <dgm:spPr/>
    </dgm:pt>
    <dgm:pt modelId="{7E2CCDC3-6E8A-4123-99C6-BB46EA397FA2}" type="pres">
      <dgm:prSet presAssocID="{D1716DBC-676A-479A-8E09-83542613CA7E}" presName="space" presStyleCnt="0"/>
      <dgm:spPr/>
    </dgm:pt>
    <dgm:pt modelId="{7D654954-D598-4506-BF95-D6DC96CE4D4D}" type="pres">
      <dgm:prSet presAssocID="{74B9B2D7-819A-45F0-BA0E-15B655468EE8}" presName="composite" presStyleCnt="0"/>
      <dgm:spPr/>
    </dgm:pt>
    <dgm:pt modelId="{BB2C03DC-8D1E-49C2-8268-3386101207DD}" type="pres">
      <dgm:prSet presAssocID="{74B9B2D7-819A-45F0-BA0E-15B655468EE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2414A69-EDF4-4671-B3FD-EF420A30A483}" type="pres">
      <dgm:prSet presAssocID="{74B9B2D7-819A-45F0-BA0E-15B655468EE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6176A00-A737-453F-B74A-26459EA30CAE}" srcId="{D7BEC972-E560-4E4C-BBE0-02D23D71EBC3}" destId="{DA6B998C-08FB-4F0D-A3D7-0A8A4965119C}" srcOrd="1" destOrd="0" parTransId="{B77C9D33-BADC-435F-A2CE-8F37F4E44DB0}" sibTransId="{77DA7E9E-3A74-45F6-AFF8-36D67429A610}"/>
    <dgm:cxn modelId="{DA377A07-7A88-4B6B-93EA-3F683C9F3A69}" type="presOf" srcId="{9403D33F-1C76-41D5-BA24-CF3534DCD846}" destId="{DE90A7EE-46FC-4682-AE91-0314E034046B}" srcOrd="0" destOrd="0" presId="urn:microsoft.com/office/officeart/2005/8/layout/hList1"/>
    <dgm:cxn modelId="{504A8D12-4F0F-43C9-AC7E-7B9F2313DEBA}" type="presOf" srcId="{CA67947F-F1F5-4003-B119-CA4B16CB9308}" destId="{12414A69-EDF4-4671-B3FD-EF420A30A483}" srcOrd="0" destOrd="0" presId="urn:microsoft.com/office/officeart/2005/8/layout/hList1"/>
    <dgm:cxn modelId="{84EB4427-D62D-4C56-9056-6A1FE8823A2B}" type="presOf" srcId="{DA6B998C-08FB-4F0D-A3D7-0A8A4965119C}" destId="{69223AC0-4C59-4B07-83C5-1A996B9AD540}" srcOrd="0" destOrd="1" presId="urn:microsoft.com/office/officeart/2005/8/layout/hList1"/>
    <dgm:cxn modelId="{33CEAB30-0D4E-41AF-9641-C980BDA9D1E8}" type="presOf" srcId="{454E18AF-DDF8-4245-83D2-378396DB04C6}" destId="{69223AC0-4C59-4B07-83C5-1A996B9AD540}" srcOrd="0" destOrd="2" presId="urn:microsoft.com/office/officeart/2005/8/layout/hList1"/>
    <dgm:cxn modelId="{1B84DC3A-04AA-457D-B8EB-E742A70CBDCA}" type="presOf" srcId="{D7BEC972-E560-4E4C-BBE0-02D23D71EBC3}" destId="{66A7E486-5101-43D2-BEC1-CD01D81C8B83}" srcOrd="0" destOrd="0" presId="urn:microsoft.com/office/officeart/2005/8/layout/hList1"/>
    <dgm:cxn modelId="{1777C74D-11AF-46C1-B996-751D89C21DAD}" type="presOf" srcId="{6E5B8094-B481-48E2-A658-736D8007B827}" destId="{A73B4865-65DA-472D-9CFE-BB7AA1671AAF}" srcOrd="0" destOrd="0" presId="urn:microsoft.com/office/officeart/2005/8/layout/hList1"/>
    <dgm:cxn modelId="{F9CFC087-2B27-4D59-89B3-8852DE4F1FD6}" srcId="{6E5B8094-B481-48E2-A658-736D8007B827}" destId="{9403D33F-1C76-41D5-BA24-CF3534DCD846}" srcOrd="0" destOrd="0" parTransId="{CD5B6773-0A7A-45FF-B147-E300D39B7307}" sibTransId="{98C70A5E-4C83-4BC2-B328-083C3E6C4406}"/>
    <dgm:cxn modelId="{61AE188E-9AFC-49DA-B92C-2D2D65ACB4CB}" srcId="{D7BEC972-E560-4E4C-BBE0-02D23D71EBC3}" destId="{454E18AF-DDF8-4245-83D2-378396DB04C6}" srcOrd="2" destOrd="0" parTransId="{0F32B471-7F58-49F9-BC09-E8E5FCA50C71}" sibTransId="{3EDB5FDE-7D55-463E-A566-98E23C037D71}"/>
    <dgm:cxn modelId="{CADD1590-35CA-41F6-B42C-09AC5E174A8B}" srcId="{F21834AC-8EF0-4BD2-AA17-F78B103593BC}" destId="{6E5B8094-B481-48E2-A658-736D8007B827}" srcOrd="0" destOrd="0" parTransId="{5EEE1896-D381-4251-A1F5-6ACD9765A307}" sibTransId="{FB749A3A-7B92-4DB6-B921-2C384334FED0}"/>
    <dgm:cxn modelId="{A3359498-49A0-4804-B887-328DF90F4DC3}" srcId="{F21834AC-8EF0-4BD2-AA17-F78B103593BC}" destId="{D7BEC972-E560-4E4C-BBE0-02D23D71EBC3}" srcOrd="1" destOrd="0" parTransId="{56117622-3228-4DC2-8D75-61010F86F158}" sibTransId="{D1716DBC-676A-479A-8E09-83542613CA7E}"/>
    <dgm:cxn modelId="{1A82EA9A-60C7-44DD-9B37-0D8624948207}" type="presOf" srcId="{86F8ECA5-932E-4B32-9DE9-79DFE88E81DB}" destId="{DE90A7EE-46FC-4682-AE91-0314E034046B}" srcOrd="0" destOrd="1" presId="urn:microsoft.com/office/officeart/2005/8/layout/hList1"/>
    <dgm:cxn modelId="{4417349F-6BBD-41E2-B897-B38BB7F493F4}" type="presOf" srcId="{F21834AC-8EF0-4BD2-AA17-F78B103593BC}" destId="{EBCB5165-BEE0-4D0C-B87F-6732BC6CA226}" srcOrd="0" destOrd="0" presId="urn:microsoft.com/office/officeart/2005/8/layout/hList1"/>
    <dgm:cxn modelId="{CED234A2-7F65-4381-B4DD-8B45D6F347FA}" type="presOf" srcId="{74B9B2D7-819A-45F0-BA0E-15B655468EE8}" destId="{BB2C03DC-8D1E-49C2-8268-3386101207DD}" srcOrd="0" destOrd="0" presId="urn:microsoft.com/office/officeart/2005/8/layout/hList1"/>
    <dgm:cxn modelId="{B1D3E1A8-5CD2-4C68-9D23-DD7502C23485}" type="presOf" srcId="{37DD92A7-6CA1-408A-B1BF-6F2EEF4F8997}" destId="{69223AC0-4C59-4B07-83C5-1A996B9AD540}" srcOrd="0" destOrd="0" presId="urn:microsoft.com/office/officeart/2005/8/layout/hList1"/>
    <dgm:cxn modelId="{22B0EFC0-16BB-42A8-988C-87D6FC7A3593}" srcId="{D7BEC972-E560-4E4C-BBE0-02D23D71EBC3}" destId="{37DD92A7-6CA1-408A-B1BF-6F2EEF4F8997}" srcOrd="0" destOrd="0" parTransId="{4B89C26B-95F5-4727-A7E1-DD1A14D6122A}" sibTransId="{ADF01E95-7100-487C-99E7-1797C96A3A15}"/>
    <dgm:cxn modelId="{0771AFED-5AFA-4397-911A-8FD5F5ED42D7}" srcId="{6E5B8094-B481-48E2-A658-736D8007B827}" destId="{86F8ECA5-932E-4B32-9DE9-79DFE88E81DB}" srcOrd="1" destOrd="0" parTransId="{132886BD-2321-41DE-AFE0-FDF190D8641B}" sibTransId="{9310EE9F-1723-4C5D-9354-A69E9A2377D6}"/>
    <dgm:cxn modelId="{CC27FDF5-5AA3-4AF8-9587-1CE1B18147A9}" srcId="{74B9B2D7-819A-45F0-BA0E-15B655468EE8}" destId="{CA67947F-F1F5-4003-B119-CA4B16CB9308}" srcOrd="0" destOrd="0" parTransId="{C70CC549-F24A-4DA9-A0B2-267C2C79FBD3}" sibTransId="{52DC7731-6D57-4593-BE3C-014C2E486241}"/>
    <dgm:cxn modelId="{70C64DFB-AF77-4287-A81A-D504651723DD}" srcId="{F21834AC-8EF0-4BD2-AA17-F78B103593BC}" destId="{74B9B2D7-819A-45F0-BA0E-15B655468EE8}" srcOrd="2" destOrd="0" parTransId="{EA74F111-78F3-469F-9241-B9689695F13D}" sibTransId="{23A23FAC-AF12-438C-AF24-EC4C4656B20B}"/>
    <dgm:cxn modelId="{710C7CB9-480B-4EF0-BC1F-E9307F430CE1}" type="presParOf" srcId="{EBCB5165-BEE0-4D0C-B87F-6732BC6CA226}" destId="{8E109A3C-2567-43C9-B0BD-1E0418CABEFC}" srcOrd="0" destOrd="0" presId="urn:microsoft.com/office/officeart/2005/8/layout/hList1"/>
    <dgm:cxn modelId="{C15FC2A0-6695-4772-A8D3-143A843FDF44}" type="presParOf" srcId="{8E109A3C-2567-43C9-B0BD-1E0418CABEFC}" destId="{A73B4865-65DA-472D-9CFE-BB7AA1671AAF}" srcOrd="0" destOrd="0" presId="urn:microsoft.com/office/officeart/2005/8/layout/hList1"/>
    <dgm:cxn modelId="{7EDD6373-18B3-4D9F-A49F-5F6DBF8E79ED}" type="presParOf" srcId="{8E109A3C-2567-43C9-B0BD-1E0418CABEFC}" destId="{DE90A7EE-46FC-4682-AE91-0314E034046B}" srcOrd="1" destOrd="0" presId="urn:microsoft.com/office/officeart/2005/8/layout/hList1"/>
    <dgm:cxn modelId="{A6A2205B-576F-4267-8C2F-8B926C5ACCAB}" type="presParOf" srcId="{EBCB5165-BEE0-4D0C-B87F-6732BC6CA226}" destId="{D82943AF-165D-4956-92F3-F985DE06E758}" srcOrd="1" destOrd="0" presId="urn:microsoft.com/office/officeart/2005/8/layout/hList1"/>
    <dgm:cxn modelId="{EF14E536-214E-4EC5-A62D-E315658E5645}" type="presParOf" srcId="{EBCB5165-BEE0-4D0C-B87F-6732BC6CA226}" destId="{31EA6B1C-7162-48CF-A7B4-9A48661E20E6}" srcOrd="2" destOrd="0" presId="urn:microsoft.com/office/officeart/2005/8/layout/hList1"/>
    <dgm:cxn modelId="{F12B47FD-D6A2-4139-8520-F888FA362DAD}" type="presParOf" srcId="{31EA6B1C-7162-48CF-A7B4-9A48661E20E6}" destId="{66A7E486-5101-43D2-BEC1-CD01D81C8B83}" srcOrd="0" destOrd="0" presId="urn:microsoft.com/office/officeart/2005/8/layout/hList1"/>
    <dgm:cxn modelId="{4522B56E-4402-4DC6-9748-415CE8F9FD42}" type="presParOf" srcId="{31EA6B1C-7162-48CF-A7B4-9A48661E20E6}" destId="{69223AC0-4C59-4B07-83C5-1A996B9AD540}" srcOrd="1" destOrd="0" presId="urn:microsoft.com/office/officeart/2005/8/layout/hList1"/>
    <dgm:cxn modelId="{57AA77FC-1623-466F-8F39-F442D9CAEF43}" type="presParOf" srcId="{EBCB5165-BEE0-4D0C-B87F-6732BC6CA226}" destId="{7E2CCDC3-6E8A-4123-99C6-BB46EA397FA2}" srcOrd="3" destOrd="0" presId="urn:microsoft.com/office/officeart/2005/8/layout/hList1"/>
    <dgm:cxn modelId="{0F779F43-1E6B-44D1-B6D8-C016E1CEC7C4}" type="presParOf" srcId="{EBCB5165-BEE0-4D0C-B87F-6732BC6CA226}" destId="{7D654954-D598-4506-BF95-D6DC96CE4D4D}" srcOrd="4" destOrd="0" presId="urn:microsoft.com/office/officeart/2005/8/layout/hList1"/>
    <dgm:cxn modelId="{6259EA77-1887-4D86-8C18-E6EDDA82D27B}" type="presParOf" srcId="{7D654954-D598-4506-BF95-D6DC96CE4D4D}" destId="{BB2C03DC-8D1E-49C2-8268-3386101207DD}" srcOrd="0" destOrd="0" presId="urn:microsoft.com/office/officeart/2005/8/layout/hList1"/>
    <dgm:cxn modelId="{04773495-AC5B-457F-9470-A6021C6CC786}" type="presParOf" srcId="{7D654954-D598-4506-BF95-D6DC96CE4D4D}" destId="{12414A69-EDF4-4671-B3FD-EF420A30A48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25734B-0035-48E5-9084-9845F9E8D51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1875B50-9EB1-42B5-BC0F-ADC970C10A10}">
      <dgm:prSet phldrT="[Texte]"/>
      <dgm:spPr/>
      <dgm:t>
        <a:bodyPr/>
        <a:lstStyle/>
        <a:p>
          <a:r>
            <a:rPr lang="fr-FR" b="1" i="0" dirty="0">
              <a:solidFill>
                <a:schemeClr val="bg1"/>
              </a:solidFill>
              <a:effectLst/>
              <a:latin typeface="+mn-lt"/>
            </a:rPr>
            <a:t>17 260 milliards </a:t>
          </a:r>
          <a:r>
            <a:rPr lang="fr-FR" b="0" i="0" dirty="0">
              <a:solidFill>
                <a:schemeClr val="bg1"/>
              </a:solidFill>
              <a:effectLst/>
              <a:latin typeface="+mn-lt"/>
            </a:rPr>
            <a:t>de kcals disponibles</a:t>
          </a:r>
          <a:endParaRPr lang="fr-FR" b="0" dirty="0">
            <a:solidFill>
              <a:schemeClr val="bg1"/>
            </a:solidFill>
            <a:latin typeface="+mn-lt"/>
          </a:endParaRPr>
        </a:p>
      </dgm:t>
    </dgm:pt>
    <dgm:pt modelId="{D7CA7C0F-BF7A-43AA-B4A9-D071E075FAF5}" type="parTrans" cxnId="{DB0FD6F5-33AA-4731-8F6B-D3992BEDB849}">
      <dgm:prSet/>
      <dgm:spPr/>
      <dgm:t>
        <a:bodyPr/>
        <a:lstStyle/>
        <a:p>
          <a:endParaRPr lang="fr-FR"/>
        </a:p>
      </dgm:t>
    </dgm:pt>
    <dgm:pt modelId="{138004D8-CE5D-4347-93D3-328DF28DB8A3}" type="sibTrans" cxnId="{DB0FD6F5-33AA-4731-8F6B-D3992BEDB849}">
      <dgm:prSet/>
      <dgm:spPr/>
      <dgm:t>
        <a:bodyPr/>
        <a:lstStyle/>
        <a:p>
          <a:endParaRPr lang="fr-FR"/>
        </a:p>
      </dgm:t>
    </dgm:pt>
    <dgm:pt modelId="{A9C8FFBA-00CA-43FD-8BED-19EAA94B943E}">
      <dgm:prSet phldrT="[Texte]"/>
      <dgm:spPr/>
      <dgm:t>
        <a:bodyPr/>
        <a:lstStyle/>
        <a:p>
          <a:r>
            <a:rPr lang="fr-FR" b="1" dirty="0">
              <a:solidFill>
                <a:schemeClr val="bg1"/>
              </a:solidFill>
            </a:rPr>
            <a:t>7,6 milliards </a:t>
          </a:r>
          <a:r>
            <a:rPr lang="fr-FR" dirty="0">
              <a:solidFill>
                <a:schemeClr val="bg1"/>
              </a:solidFill>
            </a:rPr>
            <a:t>d’humains nourris </a:t>
          </a:r>
        </a:p>
      </dgm:t>
    </dgm:pt>
    <dgm:pt modelId="{FAE5F1BA-2CB1-4343-B04D-D4DE219F0037}" type="parTrans" cxnId="{A56D62F1-EBB1-4FE3-8C0B-0FD21E271E42}">
      <dgm:prSet/>
      <dgm:spPr/>
      <dgm:t>
        <a:bodyPr/>
        <a:lstStyle/>
        <a:p>
          <a:endParaRPr lang="fr-FR"/>
        </a:p>
      </dgm:t>
    </dgm:pt>
    <dgm:pt modelId="{F86A6133-2ABC-4D2E-A11C-B0D324F5189D}" type="sibTrans" cxnId="{A56D62F1-EBB1-4FE3-8C0B-0FD21E271E42}">
      <dgm:prSet/>
      <dgm:spPr/>
      <dgm:t>
        <a:bodyPr/>
        <a:lstStyle/>
        <a:p>
          <a:endParaRPr lang="fr-FR"/>
        </a:p>
      </dgm:t>
    </dgm:pt>
    <dgm:pt modelId="{D5FFFB3F-37B5-40ED-B86A-216E87C6B55E}">
      <dgm:prSet phldrT="[Texte]"/>
      <dgm:spPr/>
      <dgm:t>
        <a:bodyPr/>
        <a:lstStyle/>
        <a:p>
          <a:r>
            <a:rPr lang="fr-FR" b="1" dirty="0"/>
            <a:t>101,63% </a:t>
          </a:r>
        </a:p>
        <a:p>
          <a:r>
            <a:rPr lang="fr-FR" dirty="0"/>
            <a:t>De la population</a:t>
          </a:r>
        </a:p>
      </dgm:t>
    </dgm:pt>
    <dgm:pt modelId="{61235873-5518-4678-B58F-CE1409BD2648}" type="parTrans" cxnId="{AEC8947D-FA63-4F9B-B74E-F4A832C4A227}">
      <dgm:prSet/>
      <dgm:spPr/>
      <dgm:t>
        <a:bodyPr/>
        <a:lstStyle/>
        <a:p>
          <a:endParaRPr lang="fr-FR"/>
        </a:p>
      </dgm:t>
    </dgm:pt>
    <dgm:pt modelId="{9A370995-EBCC-45C3-8117-4820653D3B34}" type="sibTrans" cxnId="{AEC8947D-FA63-4F9B-B74E-F4A832C4A227}">
      <dgm:prSet/>
      <dgm:spPr/>
      <dgm:t>
        <a:bodyPr/>
        <a:lstStyle/>
        <a:p>
          <a:endParaRPr lang="fr-FR"/>
        </a:p>
      </dgm:t>
    </dgm:pt>
    <dgm:pt modelId="{8946A8E9-7C4A-40DF-81E9-5F3A54EFCEFA}" type="pres">
      <dgm:prSet presAssocID="{6425734B-0035-48E5-9084-9845F9E8D518}" presName="rootnode" presStyleCnt="0">
        <dgm:presLayoutVars>
          <dgm:chMax/>
          <dgm:chPref/>
          <dgm:dir/>
          <dgm:animLvl val="lvl"/>
        </dgm:presLayoutVars>
      </dgm:prSet>
      <dgm:spPr/>
    </dgm:pt>
    <dgm:pt modelId="{24C3CE13-2D55-4335-A8C7-92434FF3682C}" type="pres">
      <dgm:prSet presAssocID="{01875B50-9EB1-42B5-BC0F-ADC970C10A10}" presName="composite" presStyleCnt="0"/>
      <dgm:spPr/>
    </dgm:pt>
    <dgm:pt modelId="{709421C0-971F-4841-996A-2CE67CA0FEA8}" type="pres">
      <dgm:prSet presAssocID="{01875B50-9EB1-42B5-BC0F-ADC970C10A10}" presName="bentUpArrow1" presStyleLbl="alignImgPlace1" presStyleIdx="0" presStyleCnt="2"/>
      <dgm:spPr/>
    </dgm:pt>
    <dgm:pt modelId="{43649C37-FDC1-4CFB-9030-3129B25520E7}" type="pres">
      <dgm:prSet presAssocID="{01875B50-9EB1-42B5-BC0F-ADC970C10A10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20CF99AC-DF47-4DF6-8D0D-6812D589EF83}" type="pres">
      <dgm:prSet presAssocID="{01875B50-9EB1-42B5-BC0F-ADC970C10A10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B40D6A6F-8FCD-434C-BFCC-56E411B59144}" type="pres">
      <dgm:prSet presAssocID="{138004D8-CE5D-4347-93D3-328DF28DB8A3}" presName="sibTrans" presStyleCnt="0"/>
      <dgm:spPr/>
    </dgm:pt>
    <dgm:pt modelId="{21736E7D-B49F-4AB5-8C41-2CD0A0C562EE}" type="pres">
      <dgm:prSet presAssocID="{A9C8FFBA-00CA-43FD-8BED-19EAA94B943E}" presName="composite" presStyleCnt="0"/>
      <dgm:spPr/>
    </dgm:pt>
    <dgm:pt modelId="{AA4D81BF-E66D-4D85-B145-8DC140715D40}" type="pres">
      <dgm:prSet presAssocID="{A9C8FFBA-00CA-43FD-8BED-19EAA94B943E}" presName="bentUpArrow1" presStyleLbl="alignImgPlace1" presStyleIdx="1" presStyleCnt="2"/>
      <dgm:spPr/>
    </dgm:pt>
    <dgm:pt modelId="{09043964-5B68-497A-9FE1-A3A1F8C32435}" type="pres">
      <dgm:prSet presAssocID="{A9C8FFBA-00CA-43FD-8BED-19EAA94B943E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7814ABA6-9999-45C3-B9FA-FD2C2D54C2CC}" type="pres">
      <dgm:prSet presAssocID="{A9C8FFBA-00CA-43FD-8BED-19EAA94B943E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77097746-FBDE-4353-86EE-5A8036C0A5BB}" type="pres">
      <dgm:prSet presAssocID="{F86A6133-2ABC-4D2E-A11C-B0D324F5189D}" presName="sibTrans" presStyleCnt="0"/>
      <dgm:spPr/>
    </dgm:pt>
    <dgm:pt modelId="{CA6F4CA0-8C81-40C9-BE78-438E842B1521}" type="pres">
      <dgm:prSet presAssocID="{D5FFFB3F-37B5-40ED-B86A-216E87C6B55E}" presName="composite" presStyleCnt="0"/>
      <dgm:spPr/>
    </dgm:pt>
    <dgm:pt modelId="{7D2EAF70-BA66-4844-B37D-29B3A3431E3D}" type="pres">
      <dgm:prSet presAssocID="{D5FFFB3F-37B5-40ED-B86A-216E87C6B55E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F7C68E4D-C441-4EC5-AB55-B7E3500080DA}" type="presOf" srcId="{6425734B-0035-48E5-9084-9845F9E8D518}" destId="{8946A8E9-7C4A-40DF-81E9-5F3A54EFCEFA}" srcOrd="0" destOrd="0" presId="urn:microsoft.com/office/officeart/2005/8/layout/StepDownProcess"/>
    <dgm:cxn modelId="{AEC8947D-FA63-4F9B-B74E-F4A832C4A227}" srcId="{6425734B-0035-48E5-9084-9845F9E8D518}" destId="{D5FFFB3F-37B5-40ED-B86A-216E87C6B55E}" srcOrd="2" destOrd="0" parTransId="{61235873-5518-4678-B58F-CE1409BD2648}" sibTransId="{9A370995-EBCC-45C3-8117-4820653D3B34}"/>
    <dgm:cxn modelId="{7A1AEB9C-8BC8-4A44-8551-EDBF2001231A}" type="presOf" srcId="{D5FFFB3F-37B5-40ED-B86A-216E87C6B55E}" destId="{7D2EAF70-BA66-4844-B37D-29B3A3431E3D}" srcOrd="0" destOrd="0" presId="urn:microsoft.com/office/officeart/2005/8/layout/StepDownProcess"/>
    <dgm:cxn modelId="{A56D62F1-EBB1-4FE3-8C0B-0FD21E271E42}" srcId="{6425734B-0035-48E5-9084-9845F9E8D518}" destId="{A9C8FFBA-00CA-43FD-8BED-19EAA94B943E}" srcOrd="1" destOrd="0" parTransId="{FAE5F1BA-2CB1-4343-B04D-D4DE219F0037}" sibTransId="{F86A6133-2ABC-4D2E-A11C-B0D324F5189D}"/>
    <dgm:cxn modelId="{D703E8F4-3EDE-48CC-A4EC-3DB63C71671C}" type="presOf" srcId="{01875B50-9EB1-42B5-BC0F-ADC970C10A10}" destId="{43649C37-FDC1-4CFB-9030-3129B25520E7}" srcOrd="0" destOrd="0" presId="urn:microsoft.com/office/officeart/2005/8/layout/StepDownProcess"/>
    <dgm:cxn modelId="{DB0FD6F5-33AA-4731-8F6B-D3992BEDB849}" srcId="{6425734B-0035-48E5-9084-9845F9E8D518}" destId="{01875B50-9EB1-42B5-BC0F-ADC970C10A10}" srcOrd="0" destOrd="0" parTransId="{D7CA7C0F-BF7A-43AA-B4A9-D071E075FAF5}" sibTransId="{138004D8-CE5D-4347-93D3-328DF28DB8A3}"/>
    <dgm:cxn modelId="{9A2824FA-D2C3-4469-A68B-C4F264ED23B1}" type="presOf" srcId="{A9C8FFBA-00CA-43FD-8BED-19EAA94B943E}" destId="{09043964-5B68-497A-9FE1-A3A1F8C32435}" srcOrd="0" destOrd="0" presId="urn:microsoft.com/office/officeart/2005/8/layout/StepDownProcess"/>
    <dgm:cxn modelId="{22E542FE-4C4C-4872-AF00-EA60B96D39EF}" type="presParOf" srcId="{8946A8E9-7C4A-40DF-81E9-5F3A54EFCEFA}" destId="{24C3CE13-2D55-4335-A8C7-92434FF3682C}" srcOrd="0" destOrd="0" presId="urn:microsoft.com/office/officeart/2005/8/layout/StepDownProcess"/>
    <dgm:cxn modelId="{C5E6B157-66D9-4B4E-976E-A8FBAA3D0FCA}" type="presParOf" srcId="{24C3CE13-2D55-4335-A8C7-92434FF3682C}" destId="{709421C0-971F-4841-996A-2CE67CA0FEA8}" srcOrd="0" destOrd="0" presId="urn:microsoft.com/office/officeart/2005/8/layout/StepDownProcess"/>
    <dgm:cxn modelId="{427BC76C-859B-4F22-82AB-9E7140D9799E}" type="presParOf" srcId="{24C3CE13-2D55-4335-A8C7-92434FF3682C}" destId="{43649C37-FDC1-4CFB-9030-3129B25520E7}" srcOrd="1" destOrd="0" presId="urn:microsoft.com/office/officeart/2005/8/layout/StepDownProcess"/>
    <dgm:cxn modelId="{E1E6EE44-2C9A-4A2E-9BA4-30915D437126}" type="presParOf" srcId="{24C3CE13-2D55-4335-A8C7-92434FF3682C}" destId="{20CF99AC-DF47-4DF6-8D0D-6812D589EF83}" srcOrd="2" destOrd="0" presId="urn:microsoft.com/office/officeart/2005/8/layout/StepDownProcess"/>
    <dgm:cxn modelId="{94ADBB5D-1DF7-46F8-A645-1B4D12717D57}" type="presParOf" srcId="{8946A8E9-7C4A-40DF-81E9-5F3A54EFCEFA}" destId="{B40D6A6F-8FCD-434C-BFCC-56E411B59144}" srcOrd="1" destOrd="0" presId="urn:microsoft.com/office/officeart/2005/8/layout/StepDownProcess"/>
    <dgm:cxn modelId="{65804339-3856-480B-818A-CFC2D097E631}" type="presParOf" srcId="{8946A8E9-7C4A-40DF-81E9-5F3A54EFCEFA}" destId="{21736E7D-B49F-4AB5-8C41-2CD0A0C562EE}" srcOrd="2" destOrd="0" presId="urn:microsoft.com/office/officeart/2005/8/layout/StepDownProcess"/>
    <dgm:cxn modelId="{72366777-9A3F-48F6-86FE-E400D0DCB6B4}" type="presParOf" srcId="{21736E7D-B49F-4AB5-8C41-2CD0A0C562EE}" destId="{AA4D81BF-E66D-4D85-B145-8DC140715D40}" srcOrd="0" destOrd="0" presId="urn:microsoft.com/office/officeart/2005/8/layout/StepDownProcess"/>
    <dgm:cxn modelId="{487E945A-31FF-4F0F-96A6-8BEF581ED28A}" type="presParOf" srcId="{21736E7D-B49F-4AB5-8C41-2CD0A0C562EE}" destId="{09043964-5B68-497A-9FE1-A3A1F8C32435}" srcOrd="1" destOrd="0" presId="urn:microsoft.com/office/officeart/2005/8/layout/StepDownProcess"/>
    <dgm:cxn modelId="{7943B8EB-F443-4CD3-88BC-3BEA8CFD637C}" type="presParOf" srcId="{21736E7D-B49F-4AB5-8C41-2CD0A0C562EE}" destId="{7814ABA6-9999-45C3-B9FA-FD2C2D54C2CC}" srcOrd="2" destOrd="0" presId="urn:microsoft.com/office/officeart/2005/8/layout/StepDownProcess"/>
    <dgm:cxn modelId="{D5405764-8DD3-45B0-9F6B-1888E5D671A4}" type="presParOf" srcId="{8946A8E9-7C4A-40DF-81E9-5F3A54EFCEFA}" destId="{77097746-FBDE-4353-86EE-5A8036C0A5BB}" srcOrd="3" destOrd="0" presId="urn:microsoft.com/office/officeart/2005/8/layout/StepDownProcess"/>
    <dgm:cxn modelId="{21B4217D-C008-4042-B327-9B644B778009}" type="presParOf" srcId="{8946A8E9-7C4A-40DF-81E9-5F3A54EFCEFA}" destId="{CA6F4CA0-8C81-40C9-BE78-438E842B1521}" srcOrd="4" destOrd="0" presId="urn:microsoft.com/office/officeart/2005/8/layout/StepDownProcess"/>
    <dgm:cxn modelId="{60002559-6A60-4BF5-9E7B-004CCFDBACE4}" type="presParOf" srcId="{CA6F4CA0-8C81-40C9-BE78-438E842B1521}" destId="{7D2EAF70-BA66-4844-B37D-29B3A3431E3D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7EACB-2A97-46A4-AEE5-774055C5A578}">
      <dsp:nvSpPr>
        <dsp:cNvPr id="0" name=""/>
        <dsp:cNvSpPr/>
      </dsp:nvSpPr>
      <dsp:spPr>
        <a:xfrm>
          <a:off x="44311" y="0"/>
          <a:ext cx="4677169" cy="467716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144A96-E58A-4147-888D-C9DE51C605FA}">
      <dsp:nvSpPr>
        <dsp:cNvPr id="0" name=""/>
        <dsp:cNvSpPr/>
      </dsp:nvSpPr>
      <dsp:spPr>
        <a:xfrm>
          <a:off x="488643" y="444331"/>
          <a:ext cx="1824095" cy="18240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Les disponibilités alimentaires de 174 pays </a:t>
          </a:r>
        </a:p>
      </dsp:txBody>
      <dsp:txXfrm>
        <a:off x="577688" y="533376"/>
        <a:ext cx="1646005" cy="1646005"/>
      </dsp:txXfrm>
    </dsp:sp>
    <dsp:sp modelId="{5FAA7A90-A3A6-4CF9-A018-5F310B0A10CC}">
      <dsp:nvSpPr>
        <dsp:cNvPr id="0" name=""/>
        <dsp:cNvSpPr/>
      </dsp:nvSpPr>
      <dsp:spPr>
        <a:xfrm>
          <a:off x="2453054" y="444331"/>
          <a:ext cx="1824095" cy="18240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Les valeurs de sous-nutrition pour 203 pays de 2013 à 2019</a:t>
          </a:r>
        </a:p>
      </dsp:txBody>
      <dsp:txXfrm>
        <a:off x="2542099" y="533376"/>
        <a:ext cx="1646005" cy="1646005"/>
      </dsp:txXfrm>
    </dsp:sp>
    <dsp:sp modelId="{8B50A6E9-3F5E-47D9-9CDB-4B5868D04354}">
      <dsp:nvSpPr>
        <dsp:cNvPr id="0" name=""/>
        <dsp:cNvSpPr/>
      </dsp:nvSpPr>
      <dsp:spPr>
        <a:xfrm>
          <a:off x="488643" y="2408742"/>
          <a:ext cx="1824095" cy="18240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La population de 236 pays de 2013 à 2018</a:t>
          </a:r>
        </a:p>
      </dsp:txBody>
      <dsp:txXfrm>
        <a:off x="577688" y="2497787"/>
        <a:ext cx="1646005" cy="1646005"/>
      </dsp:txXfrm>
    </dsp:sp>
    <dsp:sp modelId="{96283AB8-7EA6-46F3-9CFB-F8B786EF2CA2}">
      <dsp:nvSpPr>
        <dsp:cNvPr id="0" name=""/>
        <dsp:cNvSpPr/>
      </dsp:nvSpPr>
      <dsp:spPr>
        <a:xfrm>
          <a:off x="2453054" y="2408742"/>
          <a:ext cx="1824095" cy="18240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Les aides alimentaires de 76 pays de 2013 à 2016</a:t>
          </a:r>
        </a:p>
      </dsp:txBody>
      <dsp:txXfrm>
        <a:off x="2542099" y="2497787"/>
        <a:ext cx="1646005" cy="16460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3B4865-65DA-472D-9CFE-BB7AA1671AAF}">
      <dsp:nvSpPr>
        <dsp:cNvPr id="0" name=""/>
        <dsp:cNvSpPr/>
      </dsp:nvSpPr>
      <dsp:spPr>
        <a:xfrm>
          <a:off x="2540" y="870436"/>
          <a:ext cx="2476500" cy="692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Caractéristiques du jeu de données</a:t>
          </a:r>
        </a:p>
      </dsp:txBody>
      <dsp:txXfrm>
        <a:off x="2540" y="870436"/>
        <a:ext cx="2476500" cy="692606"/>
      </dsp:txXfrm>
    </dsp:sp>
    <dsp:sp modelId="{DE90A7EE-46FC-4682-AE91-0314E034046B}">
      <dsp:nvSpPr>
        <dsp:cNvPr id="0" name=""/>
        <dsp:cNvSpPr/>
      </dsp:nvSpPr>
      <dsp:spPr>
        <a:xfrm>
          <a:off x="2540" y="1563042"/>
          <a:ext cx="2476500" cy="29851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Dimensions du jeu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Nature des colonnes des données </a:t>
          </a:r>
        </a:p>
      </dsp:txBody>
      <dsp:txXfrm>
        <a:off x="2540" y="1563042"/>
        <a:ext cx="2476500" cy="2985187"/>
      </dsp:txXfrm>
    </dsp:sp>
    <dsp:sp modelId="{66A7E486-5101-43D2-BEC1-CD01D81C8B83}">
      <dsp:nvSpPr>
        <dsp:cNvPr id="0" name=""/>
        <dsp:cNvSpPr/>
      </dsp:nvSpPr>
      <dsp:spPr>
        <a:xfrm>
          <a:off x="2825750" y="870436"/>
          <a:ext cx="2476500" cy="692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Transformations du jeu de données </a:t>
          </a:r>
        </a:p>
      </dsp:txBody>
      <dsp:txXfrm>
        <a:off x="2825750" y="870436"/>
        <a:ext cx="2476500" cy="692606"/>
      </dsp:txXfrm>
    </dsp:sp>
    <dsp:sp modelId="{69223AC0-4C59-4B07-83C5-1A996B9AD540}">
      <dsp:nvSpPr>
        <dsp:cNvPr id="0" name=""/>
        <dsp:cNvSpPr/>
      </dsp:nvSpPr>
      <dsp:spPr>
        <a:xfrm>
          <a:off x="2825750" y="1563042"/>
          <a:ext cx="2476500" cy="29851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conversion des valeurs (pour passer des tonnes aux </a:t>
          </a:r>
          <a:r>
            <a:rPr lang="fr-FR" sz="2000" kern="1200" dirty="0" err="1"/>
            <a:t>kgs</a:t>
          </a:r>
          <a:r>
            <a:rPr lang="fr-FR" sz="2000" kern="1200" dirty="0"/>
            <a:t>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Renommage du nom de certaines colonne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Remplacement des valeurs non numériques </a:t>
          </a:r>
        </a:p>
      </dsp:txBody>
      <dsp:txXfrm>
        <a:off x="2825750" y="1563042"/>
        <a:ext cx="2476500" cy="2985187"/>
      </dsp:txXfrm>
    </dsp:sp>
    <dsp:sp modelId="{BB2C03DC-8D1E-49C2-8268-3386101207DD}">
      <dsp:nvSpPr>
        <dsp:cNvPr id="0" name=""/>
        <dsp:cNvSpPr/>
      </dsp:nvSpPr>
      <dsp:spPr>
        <a:xfrm>
          <a:off x="5648960" y="870436"/>
          <a:ext cx="2476500" cy="692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Affichage</a:t>
          </a:r>
        </a:p>
      </dsp:txBody>
      <dsp:txXfrm>
        <a:off x="5648960" y="870436"/>
        <a:ext cx="2476500" cy="692606"/>
      </dsp:txXfrm>
    </dsp:sp>
    <dsp:sp modelId="{12414A69-EDF4-4671-B3FD-EF420A30A483}">
      <dsp:nvSpPr>
        <dsp:cNvPr id="0" name=""/>
        <dsp:cNvSpPr/>
      </dsp:nvSpPr>
      <dsp:spPr>
        <a:xfrm>
          <a:off x="5648960" y="1563042"/>
          <a:ext cx="2476500" cy="29851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Les premières lignes de la table</a:t>
          </a:r>
        </a:p>
      </dsp:txBody>
      <dsp:txXfrm>
        <a:off x="5648960" y="1563042"/>
        <a:ext cx="2476500" cy="2985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421C0-971F-4841-996A-2CE67CA0FEA8}">
      <dsp:nvSpPr>
        <dsp:cNvPr id="0" name=""/>
        <dsp:cNvSpPr/>
      </dsp:nvSpPr>
      <dsp:spPr>
        <a:xfrm rot="5400000">
          <a:off x="1278131" y="1473052"/>
          <a:ext cx="1302788" cy="148317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49C37-FDC1-4CFB-9030-3129B25520E7}">
      <dsp:nvSpPr>
        <dsp:cNvPr id="0" name=""/>
        <dsp:cNvSpPr/>
      </dsp:nvSpPr>
      <dsp:spPr>
        <a:xfrm>
          <a:off x="932971" y="28885"/>
          <a:ext cx="2193128" cy="15351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i="0" kern="1200" dirty="0">
              <a:solidFill>
                <a:schemeClr val="bg1"/>
              </a:solidFill>
              <a:effectLst/>
              <a:latin typeface="+mn-lt"/>
            </a:rPr>
            <a:t>17 260 milliards </a:t>
          </a:r>
          <a:r>
            <a:rPr lang="fr-FR" sz="2300" b="0" i="0" kern="1200" dirty="0">
              <a:solidFill>
                <a:schemeClr val="bg1"/>
              </a:solidFill>
              <a:effectLst/>
              <a:latin typeface="+mn-lt"/>
            </a:rPr>
            <a:t>de kcals disponibles</a:t>
          </a:r>
          <a:endParaRPr lang="fr-FR" sz="2300" b="0" kern="1200" dirty="0">
            <a:solidFill>
              <a:schemeClr val="bg1"/>
            </a:solidFill>
            <a:latin typeface="+mn-lt"/>
          </a:endParaRPr>
        </a:p>
      </dsp:txBody>
      <dsp:txXfrm>
        <a:off x="1007923" y="103837"/>
        <a:ext cx="2043224" cy="1385214"/>
      </dsp:txXfrm>
    </dsp:sp>
    <dsp:sp modelId="{20CF99AC-DF47-4DF6-8D0D-6812D589EF83}">
      <dsp:nvSpPr>
        <dsp:cNvPr id="0" name=""/>
        <dsp:cNvSpPr/>
      </dsp:nvSpPr>
      <dsp:spPr>
        <a:xfrm>
          <a:off x="3126100" y="175294"/>
          <a:ext cx="1595072" cy="1240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4D81BF-E66D-4D85-B145-8DC140715D40}">
      <dsp:nvSpPr>
        <dsp:cNvPr id="0" name=""/>
        <dsp:cNvSpPr/>
      </dsp:nvSpPr>
      <dsp:spPr>
        <a:xfrm rot="5400000">
          <a:off x="3096467" y="3197498"/>
          <a:ext cx="1302788" cy="148317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43964-5B68-497A-9FE1-A3A1F8C32435}">
      <dsp:nvSpPr>
        <dsp:cNvPr id="0" name=""/>
        <dsp:cNvSpPr/>
      </dsp:nvSpPr>
      <dsp:spPr>
        <a:xfrm>
          <a:off x="2751308" y="1753331"/>
          <a:ext cx="2193128" cy="15351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>
              <a:solidFill>
                <a:schemeClr val="bg1"/>
              </a:solidFill>
            </a:rPr>
            <a:t>7,6 milliards </a:t>
          </a:r>
          <a:r>
            <a:rPr lang="fr-FR" sz="2300" kern="1200" dirty="0">
              <a:solidFill>
                <a:schemeClr val="bg1"/>
              </a:solidFill>
            </a:rPr>
            <a:t>d’humains nourris </a:t>
          </a:r>
        </a:p>
      </dsp:txBody>
      <dsp:txXfrm>
        <a:off x="2826260" y="1828283"/>
        <a:ext cx="2043224" cy="1385214"/>
      </dsp:txXfrm>
    </dsp:sp>
    <dsp:sp modelId="{7814ABA6-9999-45C3-B9FA-FD2C2D54C2CC}">
      <dsp:nvSpPr>
        <dsp:cNvPr id="0" name=""/>
        <dsp:cNvSpPr/>
      </dsp:nvSpPr>
      <dsp:spPr>
        <a:xfrm>
          <a:off x="4944436" y="1899739"/>
          <a:ext cx="1595072" cy="1240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EAF70-BA66-4844-B37D-29B3A3431E3D}">
      <dsp:nvSpPr>
        <dsp:cNvPr id="0" name=""/>
        <dsp:cNvSpPr/>
      </dsp:nvSpPr>
      <dsp:spPr>
        <a:xfrm>
          <a:off x="4569644" y="3477776"/>
          <a:ext cx="2193128" cy="15351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/>
            <a:t>101,63%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De la population</a:t>
          </a:r>
        </a:p>
      </dsp:txBody>
      <dsp:txXfrm>
        <a:off x="4644596" y="3552728"/>
        <a:ext cx="2043224" cy="1385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les dimensions du </a:t>
            </a:r>
            <a:r>
              <a:rPr lang="fr-FR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dataset</a:t>
            </a: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fr-FR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format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population.shape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le nombre de colonnes: 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fr-FR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format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population.shape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fr-FR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])</a:t>
            </a: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La nature des données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: .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dtypes</a:t>
            </a: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nombre de valeurs présentes dans chacune des colonnes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: .count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5 premières lignes de la table: ,</a:t>
            </a:r>
            <a:r>
              <a:rPr lang="fr-FR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head</a:t>
            </a: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changement du nom de la colonne Valeur par Population: 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rename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columns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fr-F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'Valeur'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'Population’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}) ou 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sous_nutrition.rename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columns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fr-F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'Valeur'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'sous nutrition'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},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inplace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fr-FR" b="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b="0" dirty="0">
              <a:solidFill>
                <a:srgbClr val="DCDCDC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remplacement des NaN dans le </a:t>
            </a:r>
            <a:r>
              <a:rPr lang="fr-FR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dataset</a:t>
            </a: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 par des 0: 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dispo_alimentaire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dispo_alimentaire.fillna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fr-FR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des tonnes par 1000 pour avoir des kg: 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aide_alimentaire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fr-F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'Valeur'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aide_alimentaire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fr-F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'Valeur'</a:t>
            </a:r>
            <a:r>
              <a:rPr lang="fr-F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fr-F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fr-FR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1000</a:t>
            </a: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5,3 millions de personnes n’ont pas les apports alimentaires suffisants pour garantir des besoins énergétiques de bases Sur 7,5 milliards de personnes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Du aux problèmes d’</a:t>
            </a:r>
            <a:r>
              <a:rPr lang="fr-FR" dirty="0" err="1"/>
              <a:t>acces</a:t>
            </a:r>
            <a:r>
              <a:rPr lang="fr-FR" dirty="0"/>
              <a:t> a la nourriture ainsi qu’a une mauvaise répartition des ressources</a:t>
            </a:r>
            <a:endParaRPr dirty="0"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dirty="0"/>
              <a:t>Création de la jointure entre les tables population et sous-nutrition avec </a:t>
            </a:r>
            <a:r>
              <a:rPr lang="fr-FR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pd.merge</a:t>
            </a:r>
            <a:endParaRPr lang="fr-F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Normalement pas de </a:t>
            </a:r>
            <a:r>
              <a:rPr lang="fr-FR" dirty="0" err="1"/>
              <a:t>ss</a:t>
            </a:r>
            <a:r>
              <a:rPr lang="fr-FR" dirty="0"/>
              <a:t> </a:t>
            </a:r>
            <a:r>
              <a:rPr lang="fr-FR" dirty="0" err="1"/>
              <a:t>noutris</a:t>
            </a:r>
            <a:r>
              <a:rPr lang="fr-FR" dirty="0"/>
              <a:t> car 2785 cal dispo /j / personne sur 2250</a:t>
            </a: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hyperlink" Target="https://www.vidal.fr/sante/nutrition/equilibre-alimentaire-adulte/recommandations-nutritionnelles-adulte.html#:~:text=Pour%20un%20homme%20adulte%2C%20l,800%20%C3%A0%202%20200%20calori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Julien </a:t>
            </a:r>
            <a:r>
              <a:rPr lang="fr-FR" sz="2800" dirty="0" err="1"/>
              <a:t>Laole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  <p:pic>
        <p:nvPicPr>
          <p:cNvPr id="2050" name="Picture 2" descr="Equonet.net">
            <a:extLst>
              <a:ext uri="{FF2B5EF4-FFF2-40B4-BE49-F238E27FC236}">
                <a16:creationId xmlns:a16="http://schemas.microsoft.com/office/drawing/2014/main" id="{31909222-DE37-D118-DC05-332C7BC68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552" y="3124515"/>
            <a:ext cx="6635448" cy="373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 et spécification des données</a:t>
            </a:r>
            <a:endParaRPr sz="3200"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1124990" y="4707052"/>
            <a:ext cx="4765793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Pour cette étude sur la sous-nutrition dans le monde, plusieurs </a:t>
            </a:r>
            <a:r>
              <a:rPr lang="fr-FR" b="1" dirty="0"/>
              <a:t>tables</a:t>
            </a:r>
            <a:r>
              <a:rPr lang="fr-FR" dirty="0"/>
              <a:t> de données: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D8FB8B-CAF8-F500-F98B-8AEC7796DF23}"/>
              </a:ext>
            </a:extLst>
          </p:cNvPr>
          <p:cNvSpPr/>
          <p:nvPr/>
        </p:nvSpPr>
        <p:spPr>
          <a:xfrm>
            <a:off x="405001" y="3167330"/>
            <a:ext cx="6216635" cy="688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Etude de la sous-nutrition dans le monde </a:t>
            </a:r>
          </a:p>
        </p:txBody>
      </p:sp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B47DD03E-E5C5-28F1-8303-08FE63F681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2977121"/>
              </p:ext>
            </p:extLst>
          </p:nvPr>
        </p:nvGraphicFramePr>
        <p:xfrm>
          <a:off x="7021206" y="2006738"/>
          <a:ext cx="4765793" cy="4677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Méthodologie de l’analyse</a:t>
            </a:r>
            <a:endParaRPr sz="3200" dirty="0"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-88491" y="1593314"/>
            <a:ext cx="10785989" cy="163644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Plusieurs étapes de </a:t>
            </a:r>
            <a:r>
              <a:rPr lang="fr-FR" b="1" dirty="0"/>
              <a:t>nettoyage et transformation</a:t>
            </a:r>
            <a:r>
              <a:rPr lang="fr-FR" dirty="0"/>
              <a:t> pour l’analyse de ses données :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3B1164A8-F3FB-B679-93BE-1C084A461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723066"/>
              </p:ext>
            </p:extLst>
          </p:nvPr>
        </p:nvGraphicFramePr>
        <p:xfrm>
          <a:off x="2346632" y="18307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1) Proportion de personnes en état de sous-nutrition en 2017</a:t>
            </a:r>
            <a:endParaRPr sz="3200" dirty="0"/>
          </a:p>
        </p:txBody>
      </p:sp>
      <p:sp>
        <p:nvSpPr>
          <p:cNvPr id="4" name="Flèche : double flèche horizontale 3">
            <a:extLst>
              <a:ext uri="{FF2B5EF4-FFF2-40B4-BE49-F238E27FC236}">
                <a16:creationId xmlns:a16="http://schemas.microsoft.com/office/drawing/2014/main" id="{723450AE-3E33-D0C3-D4B9-F3076131B57A}"/>
              </a:ext>
            </a:extLst>
          </p:cNvPr>
          <p:cNvSpPr/>
          <p:nvPr/>
        </p:nvSpPr>
        <p:spPr>
          <a:xfrm>
            <a:off x="8303145" y="3814916"/>
            <a:ext cx="1386349" cy="67003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70D8A8-6877-1D29-1B7B-9B63E67C4124}"/>
              </a:ext>
            </a:extLst>
          </p:cNvPr>
          <p:cNvSpPr/>
          <p:nvPr/>
        </p:nvSpPr>
        <p:spPr>
          <a:xfrm>
            <a:off x="6384831" y="3552335"/>
            <a:ext cx="1386348" cy="1157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           </a:t>
            </a:r>
            <a:r>
              <a:rPr lang="fr-FR" b="1" dirty="0"/>
              <a:t>7,1%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7A46C-F231-9F57-8D57-95145C34672F}"/>
              </a:ext>
            </a:extLst>
          </p:cNvPr>
          <p:cNvSpPr/>
          <p:nvPr/>
        </p:nvSpPr>
        <p:spPr>
          <a:xfrm>
            <a:off x="10161498" y="3552335"/>
            <a:ext cx="1386348" cy="1081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fr-FR" b="1" dirty="0">
                <a:solidFill>
                  <a:schemeClr val="bg1"/>
                </a:solidFill>
                <a:latin typeface="Courier New" panose="02070309020205020404" pitchFamily="49" charset="0"/>
              </a:rPr>
              <a:t>35</a:t>
            </a:r>
            <a:r>
              <a:rPr lang="fr-FR" b="1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millions</a:t>
            </a:r>
            <a:endParaRPr lang="fr-FR" dirty="0"/>
          </a:p>
        </p:txBody>
      </p:sp>
      <p:pic>
        <p:nvPicPr>
          <p:cNvPr id="8" name="Graphique 7" descr="Globe terrestre : Amériques avec un remplissage uni">
            <a:extLst>
              <a:ext uri="{FF2B5EF4-FFF2-40B4-BE49-F238E27FC236}">
                <a16:creationId xmlns:a16="http://schemas.microsoft.com/office/drawing/2014/main" id="{46DB3EE7-B7B1-AA96-A7D6-3ACA7C5DA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1950" y="3673791"/>
            <a:ext cx="914400" cy="914400"/>
          </a:xfrm>
          <a:prstGeom prst="rect">
            <a:avLst/>
          </a:prstGeom>
        </p:spPr>
      </p:pic>
      <p:pic>
        <p:nvPicPr>
          <p:cNvPr id="10" name="Graphique 9" descr="Groupe d’hommes avec un remplissage uni">
            <a:extLst>
              <a:ext uri="{FF2B5EF4-FFF2-40B4-BE49-F238E27FC236}">
                <a16:creationId xmlns:a16="http://schemas.microsoft.com/office/drawing/2014/main" id="{62B3C5A6-9A3E-C678-57D5-E284440D17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69538" y="4142266"/>
            <a:ext cx="478308" cy="478308"/>
          </a:xfrm>
          <a:prstGeom prst="rect">
            <a:avLst/>
          </a:prstGeom>
        </p:spPr>
      </p:pic>
      <p:graphicFrame>
        <p:nvGraphicFramePr>
          <p:cNvPr id="19" name="Graphique 18">
            <a:extLst>
              <a:ext uri="{FF2B5EF4-FFF2-40B4-BE49-F238E27FC236}">
                <a16:creationId xmlns:a16="http://schemas.microsoft.com/office/drawing/2014/main" id="{084FB4F2-350A-C23E-3C05-93F3B56235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7215192"/>
              </p:ext>
            </p:extLst>
          </p:nvPr>
        </p:nvGraphicFramePr>
        <p:xfrm>
          <a:off x="217189" y="2330573"/>
          <a:ext cx="6096000" cy="3801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2) Nombre théorique de personnes qui pourraient être nourries en 2017</a:t>
            </a:r>
            <a:endParaRPr sz="32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98F9625-F8DF-E133-FD8F-29EAA76B2D58}"/>
              </a:ext>
            </a:extLst>
          </p:cNvPr>
          <p:cNvSpPr txBox="1"/>
          <p:nvPr/>
        </p:nvSpPr>
        <p:spPr>
          <a:xfrm>
            <a:off x="646471" y="2485066"/>
            <a:ext cx="1612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800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5D58E82-BD7C-7291-B391-DFA830F01E63}"/>
              </a:ext>
            </a:extLst>
          </p:cNvPr>
          <p:cNvSpPr txBox="1"/>
          <p:nvPr/>
        </p:nvSpPr>
        <p:spPr>
          <a:xfrm>
            <a:off x="2716162" y="2275546"/>
            <a:ext cx="675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800" dirty="0">
              <a:solidFill>
                <a:schemeClr val="bg1"/>
              </a:solidFill>
            </a:endParaRPr>
          </a:p>
        </p:txBody>
      </p:sp>
      <p:pic>
        <p:nvPicPr>
          <p:cNvPr id="12" name="Graphique 11" descr="Groupe avec un remplissage uni">
            <a:extLst>
              <a:ext uri="{FF2B5EF4-FFF2-40B4-BE49-F238E27FC236}">
                <a16:creationId xmlns:a16="http://schemas.microsoft.com/office/drawing/2014/main" id="{E13A31AE-A309-FB3C-8D5E-17AFAEA89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8339" y="5627077"/>
            <a:ext cx="623960" cy="623960"/>
          </a:xfrm>
          <a:prstGeom prst="rect">
            <a:avLst/>
          </a:prstGeom>
        </p:spPr>
      </p:pic>
      <p:pic>
        <p:nvPicPr>
          <p:cNvPr id="14" name="Graphique 13" descr="Globe terrestre : Europe et Afrique avec un remplissage uni">
            <a:extLst>
              <a:ext uri="{FF2B5EF4-FFF2-40B4-BE49-F238E27FC236}">
                <a16:creationId xmlns:a16="http://schemas.microsoft.com/office/drawing/2014/main" id="{1C51C17D-D452-C8B2-6F98-FA8A57A20C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820" y="4181356"/>
            <a:ext cx="528483" cy="52848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8C326C1A-4616-DD9B-42F4-419DEBB65DBE}"/>
              </a:ext>
            </a:extLst>
          </p:cNvPr>
          <p:cNvGrpSpPr/>
          <p:nvPr/>
        </p:nvGrpSpPr>
        <p:grpSpPr>
          <a:xfrm>
            <a:off x="3223576" y="2186369"/>
            <a:ext cx="6154762" cy="4518456"/>
            <a:chOff x="-1624666" y="2238424"/>
            <a:chExt cx="6154762" cy="4518456"/>
          </a:xfrm>
        </p:grpSpPr>
        <p:sp>
          <p:nvSpPr>
            <p:cNvPr id="3" name="Flèche : angle droit 2">
              <a:extLst>
                <a:ext uri="{FF2B5EF4-FFF2-40B4-BE49-F238E27FC236}">
                  <a16:creationId xmlns:a16="http://schemas.microsoft.com/office/drawing/2014/main" id="{D364E50F-3B4F-624C-6DD9-0DD1BBF310FB}"/>
                </a:ext>
              </a:extLst>
            </p:cNvPr>
            <p:cNvSpPr/>
            <p:nvPr/>
          </p:nvSpPr>
          <p:spPr>
            <a:xfrm rot="5400000">
              <a:off x="-973940" y="3547692"/>
              <a:ext cx="1181095" cy="1344635"/>
            </a:xfrm>
            <a:prstGeom prst="bentUpArrow">
              <a:avLst>
                <a:gd name="adj1" fmla="val 32840"/>
                <a:gd name="adj2" fmla="val 25000"/>
                <a:gd name="adj3" fmla="val 3578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E0099D71-BCE8-2B9A-1D4C-78B9527CC96B}"/>
                </a:ext>
              </a:extLst>
            </p:cNvPr>
            <p:cNvSpPr/>
            <p:nvPr/>
          </p:nvSpPr>
          <p:spPr>
            <a:xfrm>
              <a:off x="-1624666" y="2238424"/>
              <a:ext cx="2663884" cy="1391724"/>
            </a:xfrm>
            <a:custGeom>
              <a:avLst/>
              <a:gdLst>
                <a:gd name="connsiteX0" fmla="*/ 0 w 2663884"/>
                <a:gd name="connsiteY0" fmla="*/ 232000 h 1391724"/>
                <a:gd name="connsiteX1" fmla="*/ 232000 w 2663884"/>
                <a:gd name="connsiteY1" fmla="*/ 0 h 1391724"/>
                <a:gd name="connsiteX2" fmla="*/ 2431884 w 2663884"/>
                <a:gd name="connsiteY2" fmla="*/ 0 h 1391724"/>
                <a:gd name="connsiteX3" fmla="*/ 2663884 w 2663884"/>
                <a:gd name="connsiteY3" fmla="*/ 232000 h 1391724"/>
                <a:gd name="connsiteX4" fmla="*/ 2663884 w 2663884"/>
                <a:gd name="connsiteY4" fmla="*/ 1159724 h 1391724"/>
                <a:gd name="connsiteX5" fmla="*/ 2431884 w 2663884"/>
                <a:gd name="connsiteY5" fmla="*/ 1391724 h 1391724"/>
                <a:gd name="connsiteX6" fmla="*/ 232000 w 2663884"/>
                <a:gd name="connsiteY6" fmla="*/ 1391724 h 1391724"/>
                <a:gd name="connsiteX7" fmla="*/ 0 w 2663884"/>
                <a:gd name="connsiteY7" fmla="*/ 1159724 h 1391724"/>
                <a:gd name="connsiteX8" fmla="*/ 0 w 2663884"/>
                <a:gd name="connsiteY8" fmla="*/ 232000 h 13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3884" h="1391724">
                  <a:moveTo>
                    <a:pt x="0" y="232000"/>
                  </a:moveTo>
                  <a:cubicBezTo>
                    <a:pt x="0" y="103870"/>
                    <a:pt x="103870" y="0"/>
                    <a:pt x="232000" y="0"/>
                  </a:cubicBezTo>
                  <a:lnTo>
                    <a:pt x="2431884" y="0"/>
                  </a:lnTo>
                  <a:cubicBezTo>
                    <a:pt x="2560014" y="0"/>
                    <a:pt x="2663884" y="103870"/>
                    <a:pt x="2663884" y="232000"/>
                  </a:cubicBezTo>
                  <a:lnTo>
                    <a:pt x="2663884" y="1159724"/>
                  </a:lnTo>
                  <a:cubicBezTo>
                    <a:pt x="2663884" y="1287854"/>
                    <a:pt x="2560014" y="1391724"/>
                    <a:pt x="2431884" y="1391724"/>
                  </a:cubicBezTo>
                  <a:lnTo>
                    <a:pt x="232000" y="1391724"/>
                  </a:lnTo>
                  <a:cubicBezTo>
                    <a:pt x="103870" y="1391724"/>
                    <a:pt x="0" y="1287854"/>
                    <a:pt x="0" y="1159724"/>
                  </a:cubicBezTo>
                  <a:lnTo>
                    <a:pt x="0" y="2320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6531" tIns="136531" rIns="136531" bIns="13653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kern="1200" dirty="0">
                  <a:solidFill>
                    <a:schemeClr val="bg1"/>
                  </a:solidFill>
                </a:rPr>
                <a:t>Un humain a besoin de </a:t>
              </a:r>
              <a:r>
                <a:rPr lang="fr-FR" sz="1800" b="1" kern="1200" dirty="0">
                  <a:solidFill>
                    <a:schemeClr val="bg1"/>
                  </a:solidFill>
                </a:rPr>
                <a:t>2250Kcal</a:t>
              </a:r>
              <a:r>
                <a:rPr lang="fr-FR" sz="1800" kern="1200" dirty="0">
                  <a:solidFill>
                    <a:schemeClr val="bg1"/>
                  </a:solidFill>
                </a:rPr>
                <a:t>  par jour</a:t>
              </a:r>
              <a:endParaRPr lang="fr-FR" sz="1800" kern="12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59CF459-3ADB-6A31-AD4C-72C3AB301763}"/>
                </a:ext>
              </a:extLst>
            </p:cNvPr>
            <p:cNvSpPr/>
            <p:nvPr/>
          </p:nvSpPr>
          <p:spPr>
            <a:xfrm>
              <a:off x="891151" y="2436128"/>
              <a:ext cx="1446078" cy="112485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7" name="Flèche : angle droit 6">
              <a:extLst>
                <a:ext uri="{FF2B5EF4-FFF2-40B4-BE49-F238E27FC236}">
                  <a16:creationId xmlns:a16="http://schemas.microsoft.com/office/drawing/2014/main" id="{65A2A77C-0647-AE04-22EC-67D8C9EB032D}"/>
                </a:ext>
              </a:extLst>
            </p:cNvPr>
            <p:cNvSpPr/>
            <p:nvPr/>
          </p:nvSpPr>
          <p:spPr>
            <a:xfrm rot="5400000">
              <a:off x="663824" y="5111058"/>
              <a:ext cx="1181095" cy="1344635"/>
            </a:xfrm>
            <a:prstGeom prst="bentUpArrow">
              <a:avLst>
                <a:gd name="adj1" fmla="val 32840"/>
                <a:gd name="adj2" fmla="val 25000"/>
                <a:gd name="adj3" fmla="val 3578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424B57C5-253C-C5B7-8D0C-3F3A391B2DB9}"/>
                </a:ext>
              </a:extLst>
            </p:cNvPr>
            <p:cNvSpPr/>
            <p:nvPr/>
          </p:nvSpPr>
          <p:spPr>
            <a:xfrm>
              <a:off x="185968" y="3801790"/>
              <a:ext cx="2318143" cy="1391724"/>
            </a:xfrm>
            <a:custGeom>
              <a:avLst/>
              <a:gdLst>
                <a:gd name="connsiteX0" fmla="*/ 0 w 2318143"/>
                <a:gd name="connsiteY0" fmla="*/ 232000 h 1391724"/>
                <a:gd name="connsiteX1" fmla="*/ 232000 w 2318143"/>
                <a:gd name="connsiteY1" fmla="*/ 0 h 1391724"/>
                <a:gd name="connsiteX2" fmla="*/ 2086143 w 2318143"/>
                <a:gd name="connsiteY2" fmla="*/ 0 h 1391724"/>
                <a:gd name="connsiteX3" fmla="*/ 2318143 w 2318143"/>
                <a:gd name="connsiteY3" fmla="*/ 232000 h 1391724"/>
                <a:gd name="connsiteX4" fmla="*/ 2318143 w 2318143"/>
                <a:gd name="connsiteY4" fmla="*/ 1159724 h 1391724"/>
                <a:gd name="connsiteX5" fmla="*/ 2086143 w 2318143"/>
                <a:gd name="connsiteY5" fmla="*/ 1391724 h 1391724"/>
                <a:gd name="connsiteX6" fmla="*/ 232000 w 2318143"/>
                <a:gd name="connsiteY6" fmla="*/ 1391724 h 1391724"/>
                <a:gd name="connsiteX7" fmla="*/ 0 w 2318143"/>
                <a:gd name="connsiteY7" fmla="*/ 1159724 h 1391724"/>
                <a:gd name="connsiteX8" fmla="*/ 0 w 2318143"/>
                <a:gd name="connsiteY8" fmla="*/ 232000 h 13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18143" h="1391724">
                  <a:moveTo>
                    <a:pt x="0" y="232000"/>
                  </a:moveTo>
                  <a:cubicBezTo>
                    <a:pt x="0" y="103870"/>
                    <a:pt x="103870" y="0"/>
                    <a:pt x="232000" y="0"/>
                  </a:cubicBezTo>
                  <a:lnTo>
                    <a:pt x="2086143" y="0"/>
                  </a:lnTo>
                  <a:cubicBezTo>
                    <a:pt x="2214273" y="0"/>
                    <a:pt x="2318143" y="103870"/>
                    <a:pt x="2318143" y="232000"/>
                  </a:cubicBezTo>
                  <a:lnTo>
                    <a:pt x="2318143" y="1159724"/>
                  </a:lnTo>
                  <a:cubicBezTo>
                    <a:pt x="2318143" y="1287854"/>
                    <a:pt x="2214273" y="1391724"/>
                    <a:pt x="2086143" y="1391724"/>
                  </a:cubicBezTo>
                  <a:lnTo>
                    <a:pt x="232000" y="1391724"/>
                  </a:lnTo>
                  <a:cubicBezTo>
                    <a:pt x="103870" y="1391724"/>
                    <a:pt x="0" y="1287854"/>
                    <a:pt x="0" y="1159724"/>
                  </a:cubicBezTo>
                  <a:lnTo>
                    <a:pt x="0" y="2320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6531" tIns="136531" rIns="136531" bIns="13653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b="1" i="0" kern="1200" dirty="0">
                  <a:solidFill>
                    <a:schemeClr val="bg1"/>
                  </a:solidFill>
                  <a:effectLst/>
                  <a:latin typeface="+mj-lt"/>
                </a:rPr>
                <a:t>20 918 milliards de kcals</a:t>
              </a:r>
              <a:r>
                <a:rPr lang="fr-FR" sz="1800" b="0" i="0" kern="1200" dirty="0">
                  <a:solidFill>
                    <a:schemeClr val="bg1"/>
                  </a:solidFill>
                  <a:effectLst/>
                  <a:latin typeface="+mj-lt"/>
                </a:rPr>
                <a:t> disponibles</a:t>
              </a:r>
              <a:endParaRPr lang="fr-FR" sz="1800" kern="1200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F32FC6-A854-5DFA-7343-B9E2C6B9B7BE}"/>
                </a:ext>
              </a:extLst>
            </p:cNvPr>
            <p:cNvSpPr/>
            <p:nvPr/>
          </p:nvSpPr>
          <p:spPr>
            <a:xfrm>
              <a:off x="2339175" y="3934522"/>
              <a:ext cx="1446078" cy="112485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C0DF8938-4DE6-1EA7-DBB7-6C728E93CCB0}"/>
                </a:ext>
              </a:extLst>
            </p:cNvPr>
            <p:cNvSpPr/>
            <p:nvPr/>
          </p:nvSpPr>
          <p:spPr>
            <a:xfrm>
              <a:off x="1996603" y="5365156"/>
              <a:ext cx="2533493" cy="1391724"/>
            </a:xfrm>
            <a:custGeom>
              <a:avLst/>
              <a:gdLst>
                <a:gd name="connsiteX0" fmla="*/ 0 w 2533493"/>
                <a:gd name="connsiteY0" fmla="*/ 232000 h 1391724"/>
                <a:gd name="connsiteX1" fmla="*/ 232000 w 2533493"/>
                <a:gd name="connsiteY1" fmla="*/ 0 h 1391724"/>
                <a:gd name="connsiteX2" fmla="*/ 2301493 w 2533493"/>
                <a:gd name="connsiteY2" fmla="*/ 0 h 1391724"/>
                <a:gd name="connsiteX3" fmla="*/ 2533493 w 2533493"/>
                <a:gd name="connsiteY3" fmla="*/ 232000 h 1391724"/>
                <a:gd name="connsiteX4" fmla="*/ 2533493 w 2533493"/>
                <a:gd name="connsiteY4" fmla="*/ 1159724 h 1391724"/>
                <a:gd name="connsiteX5" fmla="*/ 2301493 w 2533493"/>
                <a:gd name="connsiteY5" fmla="*/ 1391724 h 1391724"/>
                <a:gd name="connsiteX6" fmla="*/ 232000 w 2533493"/>
                <a:gd name="connsiteY6" fmla="*/ 1391724 h 1391724"/>
                <a:gd name="connsiteX7" fmla="*/ 0 w 2533493"/>
                <a:gd name="connsiteY7" fmla="*/ 1159724 h 1391724"/>
                <a:gd name="connsiteX8" fmla="*/ 0 w 2533493"/>
                <a:gd name="connsiteY8" fmla="*/ 232000 h 13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493" h="1391724">
                  <a:moveTo>
                    <a:pt x="0" y="232000"/>
                  </a:moveTo>
                  <a:cubicBezTo>
                    <a:pt x="0" y="103870"/>
                    <a:pt x="103870" y="0"/>
                    <a:pt x="232000" y="0"/>
                  </a:cubicBezTo>
                  <a:lnTo>
                    <a:pt x="2301493" y="0"/>
                  </a:lnTo>
                  <a:cubicBezTo>
                    <a:pt x="2429623" y="0"/>
                    <a:pt x="2533493" y="103870"/>
                    <a:pt x="2533493" y="232000"/>
                  </a:cubicBezTo>
                  <a:lnTo>
                    <a:pt x="2533493" y="1159724"/>
                  </a:lnTo>
                  <a:cubicBezTo>
                    <a:pt x="2533493" y="1287854"/>
                    <a:pt x="2429623" y="1391724"/>
                    <a:pt x="2301493" y="1391724"/>
                  </a:cubicBezTo>
                  <a:lnTo>
                    <a:pt x="232000" y="1391724"/>
                  </a:lnTo>
                  <a:cubicBezTo>
                    <a:pt x="103870" y="1391724"/>
                    <a:pt x="0" y="1287854"/>
                    <a:pt x="0" y="1159724"/>
                  </a:cubicBezTo>
                  <a:lnTo>
                    <a:pt x="0" y="2320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6531" tIns="136531" rIns="136531" bIns="13653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b="1" kern="1200" dirty="0">
                  <a:solidFill>
                    <a:schemeClr val="bg1"/>
                  </a:solidFill>
                </a:rPr>
                <a:t>123,17% </a:t>
              </a:r>
              <a:r>
                <a:rPr lang="fr-FR" sz="1800" kern="1200" dirty="0">
                  <a:solidFill>
                    <a:schemeClr val="bg1"/>
                  </a:solidFill>
                </a:rPr>
                <a:t>d’humains nourris</a:t>
              </a:r>
            </a:p>
          </p:txBody>
        </p:sp>
      </p:grpSp>
      <p:pic>
        <p:nvPicPr>
          <p:cNvPr id="6" name="Graphique 5" descr="Internet avec un remplissage uni">
            <a:hlinkClick r:id="rId7"/>
            <a:extLst>
              <a:ext uri="{FF2B5EF4-FFF2-40B4-BE49-F238E27FC236}">
                <a16:creationId xmlns:a16="http://schemas.microsoft.com/office/drawing/2014/main" id="{A7E8F061-7631-EDFE-5F92-CD2E62546D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44776" y="2522495"/>
            <a:ext cx="599768" cy="59976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D3935530-6B96-A796-5FFA-6392554355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7040871"/>
              </p:ext>
            </p:extLst>
          </p:nvPr>
        </p:nvGraphicFramePr>
        <p:xfrm>
          <a:off x="2602522" y="1816219"/>
          <a:ext cx="7695745" cy="5041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2" name="Légende : encadrée 1">
            <a:extLst>
              <a:ext uri="{FF2B5EF4-FFF2-40B4-BE49-F238E27FC236}">
                <a16:creationId xmlns:a16="http://schemas.microsoft.com/office/drawing/2014/main" id="{D17CC7E3-DE00-FDE6-06E8-934B268C1A8A}"/>
              </a:ext>
            </a:extLst>
          </p:cNvPr>
          <p:cNvSpPr/>
          <p:nvPr/>
        </p:nvSpPr>
        <p:spPr>
          <a:xfrm>
            <a:off x="8166525" y="3990940"/>
            <a:ext cx="3506875" cy="797963"/>
          </a:xfrm>
          <a:prstGeom prst="borderCallout1">
            <a:avLst>
              <a:gd name="adj1" fmla="val 370081"/>
              <a:gd name="adj2" fmla="val -43004"/>
              <a:gd name="adj3" fmla="val 379461"/>
              <a:gd name="adj4" fmla="val -409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9,7 milliards de kcals</a:t>
            </a:r>
            <a:endParaRPr lang="fr-FR" sz="1600" b="1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E4FC7C2-7D11-C587-C472-788A93804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20" y="2307013"/>
            <a:ext cx="5726137" cy="434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pic>
        <p:nvPicPr>
          <p:cNvPr id="37" name="Graphique 36" descr="Homme avec un remplissage uni">
            <a:extLst>
              <a:ext uri="{FF2B5EF4-FFF2-40B4-BE49-F238E27FC236}">
                <a16:creationId xmlns:a16="http://schemas.microsoft.com/office/drawing/2014/main" id="{D289664A-FF3F-22C2-5DA2-C36A329DC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955" y="4469349"/>
            <a:ext cx="747005" cy="747005"/>
          </a:xfrm>
          <a:prstGeom prst="rect">
            <a:avLst/>
          </a:prstGeom>
        </p:spPr>
      </p:pic>
      <p:pic>
        <p:nvPicPr>
          <p:cNvPr id="39" name="Graphique 38" descr="Femme avec un remplissage uni">
            <a:extLst>
              <a:ext uri="{FF2B5EF4-FFF2-40B4-BE49-F238E27FC236}">
                <a16:creationId xmlns:a16="http://schemas.microsoft.com/office/drawing/2014/main" id="{D83F0C21-140B-C2BF-68BF-A35A3F2FE1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4457" y="4467007"/>
            <a:ext cx="747005" cy="747005"/>
          </a:xfrm>
          <a:prstGeom prst="rect">
            <a:avLst/>
          </a:prstGeom>
        </p:spPr>
      </p:pic>
      <p:pic>
        <p:nvPicPr>
          <p:cNvPr id="44" name="Graphique 43" descr="Céréale avec un remplissage uni">
            <a:extLst>
              <a:ext uri="{FF2B5EF4-FFF2-40B4-BE49-F238E27FC236}">
                <a16:creationId xmlns:a16="http://schemas.microsoft.com/office/drawing/2014/main" id="{287609D0-79DF-B9DA-1E97-5BC0D02286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1839" y="2269767"/>
            <a:ext cx="914400" cy="914400"/>
          </a:xfrm>
          <a:prstGeom prst="rect">
            <a:avLst/>
          </a:prstGeom>
        </p:spPr>
      </p:pic>
      <p:pic>
        <p:nvPicPr>
          <p:cNvPr id="45" name="Graphique 44" descr="Céréale avec un remplissage uni">
            <a:extLst>
              <a:ext uri="{FF2B5EF4-FFF2-40B4-BE49-F238E27FC236}">
                <a16:creationId xmlns:a16="http://schemas.microsoft.com/office/drawing/2014/main" id="{4A8821D9-8187-8210-F87B-F2871DA637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8890" y="2243278"/>
            <a:ext cx="914400" cy="914400"/>
          </a:xfrm>
          <a:prstGeom prst="rect">
            <a:avLst/>
          </a:prstGeom>
        </p:spPr>
      </p:pic>
      <p:pic>
        <p:nvPicPr>
          <p:cNvPr id="47" name="Graphique 46" descr="Mouton avec un remplissage uni">
            <a:extLst>
              <a:ext uri="{FF2B5EF4-FFF2-40B4-BE49-F238E27FC236}">
                <a16:creationId xmlns:a16="http://schemas.microsoft.com/office/drawing/2014/main" id="{02A5AD60-214D-CFDC-B1D8-D7FF5D6D8F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4042" y="4383309"/>
            <a:ext cx="914400" cy="914400"/>
          </a:xfrm>
          <a:prstGeom prst="rect">
            <a:avLst/>
          </a:prstGeom>
        </p:spPr>
      </p:pic>
      <p:pic>
        <p:nvPicPr>
          <p:cNvPr id="51" name="Graphique 50" descr="Paon avec un remplissage uni">
            <a:extLst>
              <a:ext uri="{FF2B5EF4-FFF2-40B4-BE49-F238E27FC236}">
                <a16:creationId xmlns:a16="http://schemas.microsoft.com/office/drawing/2014/main" id="{F33DF2E7-FC73-2FE4-9BFE-C155D9D91F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38182" y="4467007"/>
            <a:ext cx="747005" cy="747005"/>
          </a:xfrm>
          <a:prstGeom prst="rect">
            <a:avLst/>
          </a:prstGeom>
        </p:spPr>
      </p:pic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B09054B5-0104-EC73-A5C7-462957427871}"/>
              </a:ext>
            </a:extLst>
          </p:cNvPr>
          <p:cNvCxnSpPr/>
          <p:nvPr/>
        </p:nvCxnSpPr>
        <p:spPr>
          <a:xfrm flipH="1">
            <a:off x="1986116" y="3303639"/>
            <a:ext cx="1032923" cy="1079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AA6A1D9-098E-D82D-B067-1186E3948A6D}"/>
              </a:ext>
            </a:extLst>
          </p:cNvPr>
          <p:cNvCxnSpPr>
            <a:cxnSpLocks/>
          </p:cNvCxnSpPr>
          <p:nvPr/>
        </p:nvCxnSpPr>
        <p:spPr>
          <a:xfrm>
            <a:off x="3476239" y="3267865"/>
            <a:ext cx="977774" cy="1225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35E1E438-48F0-57EC-12F0-793A7C137CDD}"/>
              </a:ext>
            </a:extLst>
          </p:cNvPr>
          <p:cNvSpPr/>
          <p:nvPr/>
        </p:nvSpPr>
        <p:spPr>
          <a:xfrm>
            <a:off x="1061883" y="5297709"/>
            <a:ext cx="1258529" cy="5702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42,7%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48FB7C17-740D-2D47-D6FC-583CD918832D}"/>
              </a:ext>
            </a:extLst>
          </p:cNvPr>
          <p:cNvSpPr/>
          <p:nvPr/>
        </p:nvSpPr>
        <p:spPr>
          <a:xfrm>
            <a:off x="3746090" y="5323804"/>
            <a:ext cx="1258529" cy="5702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36,3%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1BCA093-16C6-2548-D4A6-1B0FD1185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870" y="2174608"/>
            <a:ext cx="5343848" cy="441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885FE4-10E5-D246-2854-2B597990A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496" y="2586100"/>
            <a:ext cx="5741084" cy="354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69A85F9-2F4C-3461-AD0F-8E861F71A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666" y="2113628"/>
            <a:ext cx="9108665" cy="451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EE5F44C-7930-581F-B6E4-A0511E2FF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828" y="2143432"/>
            <a:ext cx="7977572" cy="450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A9F4B2F-C5E8-5B5E-A098-864ED8BF7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629467"/>
              </p:ext>
            </p:extLst>
          </p:nvPr>
        </p:nvGraphicFramePr>
        <p:xfrm>
          <a:off x="2031999" y="2331572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137919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56470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Zone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b="1" dirty="0">
                          <a:effectLst/>
                        </a:rPr>
                        <a:t>Disponibilité alimentaire (Kcal/personne/jour)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55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Autriche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3770.0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87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Belgique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3737.0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805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Turquie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3708.0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971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fr-FR" b="1" dirty="0">
                          <a:effectLst/>
                        </a:rPr>
                        <a:t>États-Unis d'Amérique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3682.0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38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Israël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3610.0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37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Irlande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3602.0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89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Italie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3578.0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384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Luxembourg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3540.0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51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Égypte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3518.0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31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Allemagne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3503.0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6321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9) Liste des 10 pays qui ont la plus faible disponibilité alimentaire par habitant</a:t>
            </a:r>
            <a:endParaRPr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84B065B-6DE6-63F3-EBA3-9901AE575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129868"/>
              </p:ext>
            </p:extLst>
          </p:nvPr>
        </p:nvGraphicFramePr>
        <p:xfrm>
          <a:off x="2326967" y="2331572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654807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63127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b="1" dirty="0">
                          <a:effectLst/>
                        </a:rPr>
                        <a:t>Disponibilité alimentaire (Kcal/personne/jour)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55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fr-FR" b="1" dirty="0">
                          <a:effectLst/>
                        </a:rPr>
                        <a:t>République centrafricaine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1879.0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72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Zambie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1924.0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28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Madagascar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2056.0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82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Afghanistan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2087.0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79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Haïti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2089.0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08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fr-FR" b="1" dirty="0">
                          <a:effectLst/>
                        </a:rPr>
                        <a:t>République populaire démocratique de Corée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2093.0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600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Tchad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2109.0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514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Zimbabwe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2113.0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12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Ouganda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2126.0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1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fr-FR" b="1" dirty="0">
                          <a:effectLst/>
                        </a:rPr>
                        <a:t>Timor-Leste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2129.0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31407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10935A-6514-E663-DBFA-1F69205C3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844" y="733529"/>
            <a:ext cx="1033343" cy="68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1C4A816-98DD-8590-A13D-F0D356540030}"/>
              </a:ext>
            </a:extLst>
          </p:cNvPr>
          <p:cNvSpPr/>
          <p:nvPr/>
        </p:nvSpPr>
        <p:spPr>
          <a:xfrm>
            <a:off x="3760973" y="2207026"/>
            <a:ext cx="2408903" cy="10688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colab-code-font-family)"/>
            </a:endParaRPr>
          </a:p>
          <a:p>
            <a:pPr algn="ctr"/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Entre 2013 et 2018, en moyenne,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 millions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personnes sont en état de sous nutrition par an.</a:t>
            </a:r>
          </a:p>
          <a:p>
            <a:pPr algn="ctr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F0B513D-456B-EE01-FF94-5EF4E73107CF}"/>
              </a:ext>
            </a:extLst>
          </p:cNvPr>
          <p:cNvSpPr/>
          <p:nvPr/>
        </p:nvSpPr>
        <p:spPr>
          <a:xfrm>
            <a:off x="810000" y="2207026"/>
            <a:ext cx="2408903" cy="10688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Entre 2013 et 2018,</a:t>
            </a:r>
          </a:p>
          <a:p>
            <a:pPr algn="ctr"/>
            <a:r>
              <a:rPr lang="fr-FR" b="1" dirty="0">
                <a:solidFill>
                  <a:schemeClr val="tx1"/>
                </a:solidFill>
                <a:latin typeface="+mj-lt"/>
              </a:rPr>
              <a:t>70 millions </a:t>
            </a:r>
            <a:r>
              <a:rPr lang="fr-FR" dirty="0">
                <a:solidFill>
                  <a:schemeClr val="tx1"/>
                </a:solidFill>
                <a:latin typeface="+mj-lt"/>
              </a:rPr>
              <a:t>d’habitants</a:t>
            </a:r>
            <a:endParaRPr lang="fr-FR" dirty="0">
              <a:latin typeface="+mj-lt"/>
            </a:endParaRP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CF30DCB3-3D9A-D021-8EC3-589A52E01858}"/>
              </a:ext>
            </a:extLst>
          </p:cNvPr>
          <p:cNvSpPr/>
          <p:nvPr/>
        </p:nvSpPr>
        <p:spPr>
          <a:xfrm>
            <a:off x="7238232" y="2569361"/>
            <a:ext cx="1397717" cy="344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BBB2359-DF2F-FDFE-46AB-38E7BA8FB2E5}"/>
              </a:ext>
            </a:extLst>
          </p:cNvPr>
          <p:cNvSpPr/>
          <p:nvPr/>
        </p:nvSpPr>
        <p:spPr>
          <a:xfrm>
            <a:off x="9241027" y="2208711"/>
            <a:ext cx="2408903" cy="10688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8,5 % de sous-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nutris</a:t>
            </a:r>
            <a:endParaRPr lang="fr-FR" b="1" dirty="0">
              <a:latin typeface="+mj-lt"/>
            </a:endParaRPr>
          </a:p>
        </p:txBody>
      </p:sp>
      <p:sp>
        <p:nvSpPr>
          <p:cNvPr id="12" name="AutoShape 10" descr="Manioc - Culture, préparations et recettes à base de manioc">
            <a:extLst>
              <a:ext uri="{FF2B5EF4-FFF2-40B4-BE49-F238E27FC236}">
                <a16:creationId xmlns:a16="http://schemas.microsoft.com/office/drawing/2014/main" id="{6EE8E3F8-64FC-3B08-33B2-5E86340B28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7510" y="3276600"/>
            <a:ext cx="2200890" cy="22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60" name="Picture 12" descr="Manioc - Culture, préparations et recettes à base de manioc">
            <a:extLst>
              <a:ext uri="{FF2B5EF4-FFF2-40B4-BE49-F238E27FC236}">
                <a16:creationId xmlns:a16="http://schemas.microsoft.com/office/drawing/2014/main" id="{357B2164-60DB-9C96-F064-F20F68E17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451" y="3825828"/>
            <a:ext cx="2106561" cy="1102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DA516373-BC1F-A875-B6A4-D4BFEF657637}"/>
              </a:ext>
            </a:extLst>
          </p:cNvPr>
          <p:cNvSpPr/>
          <p:nvPr/>
        </p:nvSpPr>
        <p:spPr>
          <a:xfrm rot="19171381">
            <a:off x="1483179" y="5152501"/>
            <a:ext cx="511870" cy="2485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1E4B01F5-5284-285A-8528-0A2A5C75FD5C}"/>
              </a:ext>
            </a:extLst>
          </p:cNvPr>
          <p:cNvSpPr/>
          <p:nvPr/>
        </p:nvSpPr>
        <p:spPr>
          <a:xfrm rot="3394650">
            <a:off x="4100788" y="5114445"/>
            <a:ext cx="551782" cy="2485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F399820-076C-3977-737E-C1566661B443}"/>
              </a:ext>
            </a:extLst>
          </p:cNvPr>
          <p:cNvSpPr/>
          <p:nvPr/>
        </p:nvSpPr>
        <p:spPr>
          <a:xfrm>
            <a:off x="392776" y="5650334"/>
            <a:ext cx="1621675" cy="902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colab-code-font-family)"/>
              </a:rPr>
              <a:t>30,2 millions produit</a:t>
            </a:r>
            <a:endParaRPr lang="fr-FR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09AF8B4-EE07-CC2E-81D7-6543C2E6CCA6}"/>
              </a:ext>
            </a:extLst>
          </p:cNvPr>
          <p:cNvSpPr/>
          <p:nvPr/>
        </p:nvSpPr>
        <p:spPr>
          <a:xfrm>
            <a:off x="3821508" y="5650335"/>
            <a:ext cx="2106561" cy="902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colab-code-font-family)"/>
              </a:rPr>
              <a:t>25,2 millions exporté soit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colab-code-font-family)"/>
              </a:rPr>
              <a:t>83,4%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colab-code-font-family)"/>
              </a:rPr>
              <a:t>de la production</a:t>
            </a:r>
            <a:endParaRPr lang="fr-FR" dirty="0"/>
          </a:p>
        </p:txBody>
      </p:sp>
      <p:sp>
        <p:nvSpPr>
          <p:cNvPr id="17" name="Étoile : 32 branches 16">
            <a:extLst>
              <a:ext uri="{FF2B5EF4-FFF2-40B4-BE49-F238E27FC236}">
                <a16:creationId xmlns:a16="http://schemas.microsoft.com/office/drawing/2014/main" id="{34B8BB29-161D-9CED-A83C-811648B011C7}"/>
              </a:ext>
            </a:extLst>
          </p:cNvPr>
          <p:cNvSpPr/>
          <p:nvPr/>
        </p:nvSpPr>
        <p:spPr>
          <a:xfrm>
            <a:off x="8354959" y="4237703"/>
            <a:ext cx="2904904" cy="1769806"/>
          </a:xfrm>
          <a:prstGeom prst="star3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i="0" dirty="0">
                <a:solidFill>
                  <a:schemeClr val="tx1"/>
                </a:solidFill>
                <a:effectLst/>
                <a:latin typeface="+mj-lt"/>
              </a:rPr>
              <a:t>2785 calories dispo /jour /personne</a:t>
            </a:r>
            <a:endParaRPr lang="fr-FR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24DBE2A-9FAC-1F3A-A00F-D4A04D5928F7}"/>
              </a:ext>
            </a:extLst>
          </p:cNvPr>
          <p:cNvSpPr/>
          <p:nvPr/>
        </p:nvSpPr>
        <p:spPr>
          <a:xfrm>
            <a:off x="392776" y="5667146"/>
            <a:ext cx="1621675" cy="9025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30,2 millions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urier New" panose="02070309020205020404" pitchFamily="49" charset="0"/>
              </a:rPr>
              <a:t>produit</a:t>
            </a:r>
            <a:endParaRPr lang="fr-FR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7D0B9463-32C2-90FD-3582-C17B0CB4E548}"/>
              </a:ext>
            </a:extLst>
          </p:cNvPr>
          <p:cNvSpPr/>
          <p:nvPr/>
        </p:nvSpPr>
        <p:spPr>
          <a:xfrm>
            <a:off x="3821508" y="5667147"/>
            <a:ext cx="2106561" cy="902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25,2 millions exporté soit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83,4%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 la production</a:t>
            </a:r>
            <a:endParaRPr lang="fr-FR" dirty="0">
              <a:latin typeface="+mj-l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Malgré une amélioration entre 2013 et 2016,  il y a encore trop d’inégalités d’accès à la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nourriture dans le monde.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La diminution de la faim dans le monde est un défi d’ampleur mondiale, chaque individu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doit y mettre du sien. 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Certaines actions peuvent aider à diminuer la sous-nutrition: la sensibilisation, être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actif face aux changements climatiques…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5050</TotalTime>
  <Words>737</Words>
  <Application>Microsoft Office PowerPoint</Application>
  <PresentationFormat>Grand écran</PresentationFormat>
  <Paragraphs>134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var(--colab-code-font-family)</vt:lpstr>
      <vt:lpstr>Arial</vt:lpstr>
      <vt:lpstr>Noto Sans Symbols</vt:lpstr>
      <vt:lpstr>Calibri</vt:lpstr>
      <vt:lpstr>Century Gothic</vt:lpstr>
      <vt:lpstr>Courier New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Julie Rocher</cp:lastModifiedBy>
  <cp:revision>50</cp:revision>
  <dcterms:created xsi:type="dcterms:W3CDTF">2023-03-17T20:58:30Z</dcterms:created>
  <dcterms:modified xsi:type="dcterms:W3CDTF">2025-01-18T09:39:01Z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