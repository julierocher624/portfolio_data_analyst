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64" r:id="rId4"/>
    <p:sldId id="265" r:id="rId5"/>
    <p:sldId id="262" r:id="rId6"/>
    <p:sldId id="263" r:id="rId7"/>
    <p:sldId id="266" r:id="rId8"/>
    <p:sldId id="271" r:id="rId9"/>
    <p:sldId id="268" r:id="rId10"/>
    <p:sldId id="269" r:id="rId11"/>
    <p:sldId id="270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A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27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05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1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611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25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5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46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23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85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00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8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36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99EBE-B44E-4665-951C-B3B9DEA6DC48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4CA30-4618-4C28-AE85-2F1562E390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84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monde-carte-du-monde-terre-16081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0262E-0BC9-5553-4DAB-CC31F8ED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8865773-7DA5-E70A-60B4-66E2184A99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46644" y="0"/>
            <a:ext cx="1089871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04AA12-F0FF-DAD4-C2B2-0D84547C44A2}"/>
              </a:ext>
            </a:extLst>
          </p:cNvPr>
          <p:cNvSpPr/>
          <p:nvPr/>
        </p:nvSpPr>
        <p:spPr>
          <a:xfrm>
            <a:off x="0" y="0"/>
            <a:ext cx="646644" cy="6857999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2F6CE-54AD-63E0-B4C2-44F99CB4EA5B}"/>
              </a:ext>
            </a:extLst>
          </p:cNvPr>
          <p:cNvSpPr/>
          <p:nvPr/>
        </p:nvSpPr>
        <p:spPr>
          <a:xfrm>
            <a:off x="11545356" y="0"/>
            <a:ext cx="646644" cy="6857999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6B2ABB-7F41-28F7-4BD6-BD83F259F04B}"/>
              </a:ext>
            </a:extLst>
          </p:cNvPr>
          <p:cNvSpPr txBox="1"/>
          <p:nvPr/>
        </p:nvSpPr>
        <p:spPr>
          <a:xfrm>
            <a:off x="5245510" y="1366896"/>
            <a:ext cx="1700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Etude </a:t>
            </a:r>
          </a:p>
          <a:p>
            <a:pPr algn="ctr"/>
            <a:r>
              <a:rPr lang="fr-FR" sz="3200" b="1" dirty="0">
                <a:solidFill>
                  <a:schemeClr val="bg1"/>
                </a:solidFill>
              </a:rPr>
              <a:t>sur </a:t>
            </a:r>
          </a:p>
          <a:p>
            <a:pPr algn="ctr"/>
            <a:r>
              <a:rPr lang="fr-FR" sz="3200" b="1" dirty="0">
                <a:solidFill>
                  <a:schemeClr val="bg1"/>
                </a:solidFill>
              </a:rPr>
              <a:t>l’eau </a:t>
            </a:r>
          </a:p>
          <a:p>
            <a:pPr algn="ctr"/>
            <a:r>
              <a:rPr lang="fr-FR" sz="3200" b="1" dirty="0">
                <a:solidFill>
                  <a:schemeClr val="bg1"/>
                </a:solidFill>
              </a:rPr>
              <a:t>potable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2AF81A-409D-B4E6-A4B8-B11802E4A04F}"/>
              </a:ext>
            </a:extLst>
          </p:cNvPr>
          <p:cNvSpPr txBox="1"/>
          <p:nvPr/>
        </p:nvSpPr>
        <p:spPr>
          <a:xfrm>
            <a:off x="9291484" y="5810864"/>
            <a:ext cx="2253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ROCHER Julie</a:t>
            </a:r>
          </a:p>
          <a:p>
            <a:r>
              <a:rPr lang="fr-FR" b="1" dirty="0">
                <a:solidFill>
                  <a:schemeClr val="bg1"/>
                </a:solidFill>
              </a:rPr>
              <a:t>Décembre 2025</a:t>
            </a:r>
          </a:p>
        </p:txBody>
      </p:sp>
    </p:spTree>
    <p:extLst>
      <p:ext uri="{BB962C8B-B14F-4D97-AF65-F5344CB8AC3E}">
        <p14:creationId xmlns:p14="http://schemas.microsoft.com/office/powerpoint/2010/main" val="21474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2D4CD0-EB8C-8584-1ACD-6758C4794CB6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48DCA9-20D0-A5EE-9246-6963334BE57F}"/>
              </a:ext>
            </a:extLst>
          </p:cNvPr>
          <p:cNvSpPr txBox="1"/>
          <p:nvPr/>
        </p:nvSpPr>
        <p:spPr>
          <a:xfrm>
            <a:off x="457200" y="127820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Dérou</a:t>
            </a:r>
            <a:r>
              <a:rPr lang="fr-FR" sz="3200" b="1" dirty="0">
                <a:solidFill>
                  <a:srgbClr val="1FA7EE"/>
                </a:solidFill>
              </a:rPr>
              <a:t>lé</a:t>
            </a:r>
            <a:r>
              <a:rPr lang="fr-FR" sz="3200" b="1" dirty="0"/>
              <a:t> </a:t>
            </a:r>
            <a:r>
              <a:rPr lang="fr-FR" sz="3200" b="1" dirty="0">
                <a:solidFill>
                  <a:srgbClr val="1FA7EE"/>
                </a:solidFill>
              </a:rPr>
              <a:t>de la présentation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1BA952-CAEF-C7A7-BBB2-D19618F84EE3}"/>
              </a:ext>
            </a:extLst>
          </p:cNvPr>
          <p:cNvSpPr txBox="1"/>
          <p:nvPr/>
        </p:nvSpPr>
        <p:spPr>
          <a:xfrm>
            <a:off x="4021394" y="2257172"/>
            <a:ext cx="9065342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Contexte et objectifs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Données et prétraitement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Blueprint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Démonstration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Accessibilité, limites et 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229413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1C5B5-2947-328C-7E59-F5F7C75C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6221C-59F9-9A1B-6DFB-85B0A38C21E4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67B095-5786-C127-E537-27F65B144EE2}"/>
              </a:ext>
            </a:extLst>
          </p:cNvPr>
          <p:cNvSpPr txBox="1"/>
          <p:nvPr/>
        </p:nvSpPr>
        <p:spPr>
          <a:xfrm>
            <a:off x="260555" y="68826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Contex</a:t>
            </a:r>
            <a:r>
              <a:rPr lang="fr-FR" sz="3200" b="1" dirty="0">
                <a:solidFill>
                  <a:srgbClr val="1FA7EE"/>
                </a:solidFill>
              </a:rPr>
              <a:t>te</a:t>
            </a:r>
            <a:r>
              <a:rPr lang="fr-FR" sz="3200" b="1" dirty="0">
                <a:solidFill>
                  <a:schemeClr val="bg1"/>
                </a:solidFill>
              </a:rPr>
              <a:t> </a:t>
            </a:r>
            <a:r>
              <a:rPr lang="fr-FR" sz="3200" b="1" dirty="0">
                <a:solidFill>
                  <a:srgbClr val="1FA7EE"/>
                </a:solidFill>
              </a:rPr>
              <a:t>et objectifs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452A36-E376-286C-C4F9-9E79D55F3B16}"/>
              </a:ext>
            </a:extLst>
          </p:cNvPr>
          <p:cNvSpPr txBox="1"/>
          <p:nvPr/>
        </p:nvSpPr>
        <p:spPr>
          <a:xfrm>
            <a:off x="1917291" y="1464218"/>
            <a:ext cx="4178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FA7EE"/>
                </a:solidFill>
              </a:rPr>
              <a:t>Contexte</a:t>
            </a:r>
            <a:endParaRPr lang="fr-FR" dirty="0">
              <a:solidFill>
                <a:srgbClr val="1FA7EE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79FDEF-F5DE-F242-D6C3-01DD329A65FB}"/>
              </a:ext>
            </a:extLst>
          </p:cNvPr>
          <p:cNvSpPr txBox="1"/>
          <p:nvPr/>
        </p:nvSpPr>
        <p:spPr>
          <a:xfrm>
            <a:off x="5820696" y="3904164"/>
            <a:ext cx="4178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FA7EE"/>
                </a:solidFill>
              </a:rPr>
              <a:t>Objectifs</a:t>
            </a:r>
            <a:endParaRPr lang="fr-FR" dirty="0">
              <a:solidFill>
                <a:srgbClr val="1FA7EE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CFCF97-B2B6-CBA6-7CFF-963AAE8FF621}"/>
              </a:ext>
            </a:extLst>
          </p:cNvPr>
          <p:cNvSpPr txBox="1"/>
          <p:nvPr/>
        </p:nvSpPr>
        <p:spPr>
          <a:xfrm>
            <a:off x="2064773" y="1925883"/>
            <a:ext cx="8573729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Enjeux majeurs liés à l’accès à l’eau, à l’assainissement et à l’hygiène (EAH)</a:t>
            </a:r>
          </a:p>
          <a:p>
            <a:pPr marL="342900" indent="-34290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Persistance de disparités entre zones et populations</a:t>
            </a:r>
          </a:p>
          <a:p>
            <a:pPr marL="342900" indent="-34290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Besoin d’une lecture synthétique et fiable des indicateurs clés (année 2016)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ACB2E14-8122-9CE1-A988-38AE9A69808D}"/>
              </a:ext>
            </a:extLst>
          </p:cNvPr>
          <p:cNvSpPr txBox="1"/>
          <p:nvPr/>
        </p:nvSpPr>
        <p:spPr>
          <a:xfrm>
            <a:off x="6096000" y="4378119"/>
            <a:ext cx="57027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Centraliser les indicateurs EAH et démographiques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Visualiser les tendances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Prioriser des actions 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Appuyer la prise de décisions</a:t>
            </a:r>
          </a:p>
          <a:p>
            <a:pPr marL="285750" indent="-285750">
              <a:buClr>
                <a:srgbClr val="1FA7EE"/>
              </a:buClr>
              <a:buFont typeface="Arial" panose="020B0604020202020204" pitchFamily="34" charset="0"/>
              <a:buChar char="→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095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6023-1D74-3E78-8092-EC8228DE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6EA3B-7D33-9919-047F-780C2DE0F3F9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89BD810-4F2C-6B0A-3D18-5A5EB17EAF9C}"/>
              </a:ext>
            </a:extLst>
          </p:cNvPr>
          <p:cNvSpPr txBox="1"/>
          <p:nvPr/>
        </p:nvSpPr>
        <p:spPr>
          <a:xfrm>
            <a:off x="368710" y="127819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Donné</a:t>
            </a:r>
            <a:r>
              <a:rPr lang="fr-FR" sz="3200" b="1" dirty="0">
                <a:solidFill>
                  <a:srgbClr val="1FA7EE"/>
                </a:solidFill>
              </a:rPr>
              <a:t>es</a:t>
            </a:r>
            <a:r>
              <a:rPr lang="fr-FR" sz="3200" b="1" dirty="0">
                <a:solidFill>
                  <a:schemeClr val="bg1"/>
                </a:solidFill>
              </a:rPr>
              <a:t> </a:t>
            </a:r>
            <a:r>
              <a:rPr lang="fr-FR" sz="3200" b="1" dirty="0">
                <a:solidFill>
                  <a:srgbClr val="1FA7EE"/>
                </a:solidFill>
              </a:rPr>
              <a:t>et prétraitement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4C452D2-1C9D-ECCF-0426-FEFC581076A1}"/>
              </a:ext>
            </a:extLst>
          </p:cNvPr>
          <p:cNvSpPr txBox="1"/>
          <p:nvPr/>
        </p:nvSpPr>
        <p:spPr>
          <a:xfrm>
            <a:off x="2212259" y="1277405"/>
            <a:ext cx="4178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FA7EE"/>
                </a:solidFill>
              </a:rPr>
              <a:t>Données</a:t>
            </a:r>
            <a:endParaRPr lang="fr-FR" dirty="0">
              <a:solidFill>
                <a:srgbClr val="1FA7EE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31F0091-B739-6B97-6CF3-F0D5855A6C6D}"/>
              </a:ext>
            </a:extLst>
          </p:cNvPr>
          <p:cNvSpPr txBox="1"/>
          <p:nvPr/>
        </p:nvSpPr>
        <p:spPr>
          <a:xfrm>
            <a:off x="4242619" y="3130903"/>
            <a:ext cx="4178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FA7EE"/>
                </a:solidFill>
              </a:rPr>
              <a:t>Prétraitement</a:t>
            </a:r>
            <a:endParaRPr lang="fr-FR" dirty="0">
              <a:solidFill>
                <a:srgbClr val="1FA7EE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C703DB-6A74-2D5E-F4A8-27B70C75DE23}"/>
              </a:ext>
            </a:extLst>
          </p:cNvPr>
          <p:cNvSpPr txBox="1"/>
          <p:nvPr/>
        </p:nvSpPr>
        <p:spPr>
          <a:xfrm>
            <a:off x="2005781" y="1739070"/>
            <a:ext cx="438518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5 fichiers csv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Provenant des sites FAO et OMS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CFC4428-B315-FA84-7111-D3BD01364381}"/>
              </a:ext>
            </a:extLst>
          </p:cNvPr>
          <p:cNvSpPr txBox="1"/>
          <p:nvPr/>
        </p:nvSpPr>
        <p:spPr>
          <a:xfrm>
            <a:off x="3967316" y="3592568"/>
            <a:ext cx="5692877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Nettoyage et contrôle de cohérence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Harmonisation des formats et les unités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Structuration des données pour l’analyse</a:t>
            </a:r>
          </a:p>
          <a:p>
            <a:pPr marL="285750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Créations d’indicateurs synthétiques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2288D46-8B02-F38A-82AA-A3C35DF6EFCE}"/>
              </a:ext>
            </a:extLst>
          </p:cNvPr>
          <p:cNvGrpSpPr/>
          <p:nvPr/>
        </p:nvGrpSpPr>
        <p:grpSpPr>
          <a:xfrm>
            <a:off x="9101263" y="840413"/>
            <a:ext cx="1756955" cy="5637222"/>
            <a:chOff x="8724231" y="863310"/>
            <a:chExt cx="1756955" cy="5637222"/>
          </a:xfrm>
        </p:grpSpPr>
        <p:pic>
          <p:nvPicPr>
            <p:cNvPr id="11" name="Image 10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41249EE8-8340-24DD-9F09-C3E400D96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24231" y="863310"/>
              <a:ext cx="1756955" cy="4152178"/>
            </a:xfrm>
            <a:prstGeom prst="rect">
              <a:avLst/>
            </a:prstGeom>
          </p:spPr>
        </p:pic>
        <p:pic>
          <p:nvPicPr>
            <p:cNvPr id="13" name="Image 12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AFB26A12-4A49-E643-4A6C-6D14759B9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4231" y="5015487"/>
              <a:ext cx="1756955" cy="1485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067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EAFB-AC13-B1E0-D769-A34C7166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354164-237A-EA66-A47F-AFE24531C2B1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1C2DBB-4209-1FAE-EE5E-068087326CC3}"/>
              </a:ext>
            </a:extLst>
          </p:cNvPr>
          <p:cNvSpPr txBox="1"/>
          <p:nvPr/>
        </p:nvSpPr>
        <p:spPr>
          <a:xfrm>
            <a:off x="688258" y="157316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Et le </a:t>
            </a:r>
            <a:r>
              <a:rPr lang="fr-FR" sz="3200" b="1" dirty="0">
                <a:solidFill>
                  <a:srgbClr val="1FA7EE"/>
                </a:solidFill>
              </a:rPr>
              <a:t>RGPD dans tout ça ?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238D5F9-556D-78F8-8E0D-C25BEA590511}"/>
              </a:ext>
            </a:extLst>
          </p:cNvPr>
          <p:cNvSpPr txBox="1"/>
          <p:nvPr/>
        </p:nvSpPr>
        <p:spPr>
          <a:xfrm>
            <a:off x="2113935" y="1503091"/>
            <a:ext cx="92914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Les principes des règles de protection des données personnelles: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3E17E47-B04F-7C50-30D0-474D2D3C69F7}"/>
              </a:ext>
            </a:extLst>
          </p:cNvPr>
          <p:cNvSpPr txBox="1"/>
          <p:nvPr/>
        </p:nvSpPr>
        <p:spPr>
          <a:xfrm>
            <a:off x="3726425" y="2241755"/>
            <a:ext cx="89473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fr-FR" sz="2000" dirty="0"/>
              <a:t>Le principe de finalité</a:t>
            </a:r>
          </a:p>
          <a:p>
            <a:pPr lvl="0">
              <a:defRPr/>
            </a:pPr>
            <a:endParaRPr lang="fr-FR" sz="20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fr-FR" sz="2000" dirty="0"/>
              <a:t>Le principe de proportionnalité et de pertinence</a:t>
            </a:r>
          </a:p>
          <a:p>
            <a:pPr lvl="0">
              <a:defRPr/>
            </a:pPr>
            <a:endParaRPr lang="fr-FR" sz="20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fr-FR" sz="2000" dirty="0"/>
              <a:t>Le principe d’une durée de conservation limitée</a:t>
            </a:r>
          </a:p>
          <a:p>
            <a:pPr lvl="0">
              <a:defRPr/>
            </a:pPr>
            <a:endParaRPr lang="fr-FR" sz="20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fr-FR" sz="2000" dirty="0"/>
              <a:t>Le principe de sécurité et de confidentialité</a:t>
            </a:r>
          </a:p>
          <a:p>
            <a:pPr lvl="0">
              <a:defRPr/>
            </a:pPr>
            <a:endParaRPr lang="fr-FR" sz="20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fr-FR" sz="2000" dirty="0"/>
              <a:t>Les droits des personnes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805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96D6-ADFA-B348-0CFB-E19A501F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57CEA9-B75E-1396-7497-6FDEA664ABA6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ED9FD02-B015-EC3A-4C59-7953C21DB987}"/>
              </a:ext>
            </a:extLst>
          </p:cNvPr>
          <p:cNvSpPr txBox="1"/>
          <p:nvPr/>
        </p:nvSpPr>
        <p:spPr>
          <a:xfrm>
            <a:off x="781665" y="117987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Blue</a:t>
            </a:r>
            <a:r>
              <a:rPr lang="fr-FR" sz="3200" b="1" dirty="0">
                <a:solidFill>
                  <a:srgbClr val="1FA7EE"/>
                </a:solidFill>
              </a:rPr>
              <a:t>print</a:t>
            </a:r>
          </a:p>
        </p:txBody>
      </p:sp>
      <p:pic>
        <p:nvPicPr>
          <p:cNvPr id="3" name="Image 2" descr="Une image contenant texte, capture d’écran, Parallèle, document&#10;&#10;Le contenu généré par l’IA peut être incorrect.">
            <a:extLst>
              <a:ext uri="{FF2B5EF4-FFF2-40B4-BE49-F238E27FC236}">
                <a16:creationId xmlns:a16="http://schemas.microsoft.com/office/drawing/2014/main" id="{A93DE9A4-F454-1428-D115-B2567C52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674" y="227725"/>
            <a:ext cx="5298661" cy="64025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CC97CBF-EAD3-558A-55FD-AAFAC20E8B07}"/>
              </a:ext>
            </a:extLst>
          </p:cNvPr>
          <p:cNvSpPr txBox="1"/>
          <p:nvPr/>
        </p:nvSpPr>
        <p:spPr>
          <a:xfrm>
            <a:off x="2477729" y="2458065"/>
            <a:ext cx="3224981" cy="166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Des données centralisées</a:t>
            </a:r>
          </a:p>
          <a:p>
            <a:pPr marL="285750" indent="-285750">
              <a:lnSpc>
                <a:spcPct val="20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Une structure claire </a:t>
            </a:r>
          </a:p>
          <a:p>
            <a:pPr marL="285750" indent="-285750">
              <a:lnSpc>
                <a:spcPct val="20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Un support à l’analyse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48F958-B2BE-10AD-DC9F-7B47A135DA22}"/>
              </a:ext>
            </a:extLst>
          </p:cNvPr>
          <p:cNvSpPr txBox="1"/>
          <p:nvPr/>
        </p:nvSpPr>
        <p:spPr>
          <a:xfrm>
            <a:off x="1885798" y="2025897"/>
            <a:ext cx="4050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Que permet-il ? </a:t>
            </a:r>
          </a:p>
        </p:txBody>
      </p:sp>
    </p:spTree>
    <p:extLst>
      <p:ext uri="{BB962C8B-B14F-4D97-AF65-F5344CB8AC3E}">
        <p14:creationId xmlns:p14="http://schemas.microsoft.com/office/powerpoint/2010/main" val="308970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3ADF-C030-A7F7-A040-4C63BB12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505967-46C6-AA1C-86C8-793212E26A37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16767E-EDC4-431F-2E25-B89F47E54868}"/>
              </a:ext>
            </a:extLst>
          </p:cNvPr>
          <p:cNvSpPr txBox="1"/>
          <p:nvPr/>
        </p:nvSpPr>
        <p:spPr>
          <a:xfrm>
            <a:off x="781665" y="117987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Le d</a:t>
            </a:r>
            <a:r>
              <a:rPr lang="fr-FR" sz="3200" b="1" dirty="0">
                <a:solidFill>
                  <a:srgbClr val="1FA7EE"/>
                </a:solidFill>
              </a:rPr>
              <a:t>ashboard: présentation de l’outil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48FDAA8-52D5-B77A-08E3-C7EDE6FD138A}"/>
              </a:ext>
            </a:extLst>
          </p:cNvPr>
          <p:cNvGrpSpPr/>
          <p:nvPr/>
        </p:nvGrpSpPr>
        <p:grpSpPr>
          <a:xfrm>
            <a:off x="1710813" y="820749"/>
            <a:ext cx="4190999" cy="2675585"/>
            <a:chOff x="2615381" y="1563329"/>
            <a:chExt cx="4190999" cy="2675585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8C92815C-5C66-AA10-402A-A74D6743BAB6}"/>
                </a:ext>
              </a:extLst>
            </p:cNvPr>
            <p:cNvSpPr txBox="1"/>
            <p:nvPr/>
          </p:nvSpPr>
          <p:spPr>
            <a:xfrm>
              <a:off x="2615381" y="1563329"/>
              <a:ext cx="3480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highlight>
                    <a:srgbClr val="1FA7EE"/>
                  </a:highlight>
                </a:rPr>
                <a:t>Vue mondiale</a:t>
              </a:r>
            </a:p>
          </p:txBody>
        </p:sp>
        <p:pic>
          <p:nvPicPr>
            <p:cNvPr id="9" name="Image 8" descr="Une image contenant texte, diagramme, capture d’écran, carte&#10;&#10;Le contenu généré par l’IA peut être incorrect.">
              <a:extLst>
                <a:ext uri="{FF2B5EF4-FFF2-40B4-BE49-F238E27FC236}">
                  <a16:creationId xmlns:a16="http://schemas.microsoft.com/office/drawing/2014/main" id="{A91180F2-8AB4-56DE-7577-B9C76F9EB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3293" y="1932661"/>
              <a:ext cx="4123087" cy="2306253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4D25DAC-50DE-F4B8-DDBE-9807D75EC2F6}"/>
              </a:ext>
            </a:extLst>
          </p:cNvPr>
          <p:cNvGrpSpPr/>
          <p:nvPr/>
        </p:nvGrpSpPr>
        <p:grpSpPr>
          <a:xfrm>
            <a:off x="7138675" y="938936"/>
            <a:ext cx="4184539" cy="2690556"/>
            <a:chOff x="7270955" y="2545965"/>
            <a:chExt cx="4184539" cy="2690556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8C2E4750-46FF-9355-4E16-7CB0D8D848D4}"/>
                </a:ext>
              </a:extLst>
            </p:cNvPr>
            <p:cNvSpPr txBox="1"/>
            <p:nvPr/>
          </p:nvSpPr>
          <p:spPr>
            <a:xfrm>
              <a:off x="7270955" y="2545965"/>
              <a:ext cx="3480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highlight>
                    <a:srgbClr val="1FA7EE"/>
                  </a:highlight>
                </a:rPr>
                <a:t>Vue régionale</a:t>
              </a:r>
            </a:p>
          </p:txBody>
        </p:sp>
        <p:pic>
          <p:nvPicPr>
            <p:cNvPr id="12" name="Image 11" descr="Une image contenant texte, capture d’écran, diagramme, logiciel&#10;&#10;Le contenu généré par l’IA peut être incorrect.">
              <a:extLst>
                <a:ext uri="{FF2B5EF4-FFF2-40B4-BE49-F238E27FC236}">
                  <a16:creationId xmlns:a16="http://schemas.microsoft.com/office/drawing/2014/main" id="{885B7571-3D8E-1A01-EC07-00A095B16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2407" y="2915297"/>
              <a:ext cx="4123087" cy="2321224"/>
            </a:xfrm>
            <a:prstGeom prst="rect">
              <a:avLst/>
            </a:prstGeom>
          </p:spPr>
        </p:pic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9908D2D-9AF2-6B91-126C-0A4FAE72523A}"/>
              </a:ext>
            </a:extLst>
          </p:cNvPr>
          <p:cNvGrpSpPr/>
          <p:nvPr/>
        </p:nvGrpSpPr>
        <p:grpSpPr>
          <a:xfrm>
            <a:off x="4711266" y="3865666"/>
            <a:ext cx="4190228" cy="2685474"/>
            <a:chOff x="5011220" y="3903406"/>
            <a:chExt cx="4190228" cy="2685474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509BDAFB-7148-2119-739F-7899810C6934}"/>
                </a:ext>
              </a:extLst>
            </p:cNvPr>
            <p:cNvSpPr txBox="1"/>
            <p:nvPr/>
          </p:nvSpPr>
          <p:spPr>
            <a:xfrm>
              <a:off x="5011220" y="3903406"/>
              <a:ext cx="3480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highlight>
                    <a:srgbClr val="1FA7EE"/>
                  </a:highlight>
                </a:rPr>
                <a:t>Vue nationale</a:t>
              </a:r>
            </a:p>
          </p:txBody>
        </p:sp>
        <p:pic>
          <p:nvPicPr>
            <p:cNvPr id="15" name="Image 14" descr="Une image contenant texte, capture d’écran, diagramme, nombre&#10;&#10;Le contenu généré par l’IA peut être incorrect.">
              <a:extLst>
                <a:ext uri="{FF2B5EF4-FFF2-40B4-BE49-F238E27FC236}">
                  <a16:creationId xmlns:a16="http://schemas.microsoft.com/office/drawing/2014/main" id="{F8D528B5-C3E9-BF21-3C20-4E70BB6FD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8361" y="4272738"/>
              <a:ext cx="4123087" cy="2316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709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AF9B-8BC1-F026-BE7E-E75E4D57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742250-5F0C-3131-49D7-4DB2B6EC4A72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905565-2CB7-3B40-92DB-0692A49D2C2E}"/>
              </a:ext>
            </a:extLst>
          </p:cNvPr>
          <p:cNvSpPr txBox="1"/>
          <p:nvPr/>
        </p:nvSpPr>
        <p:spPr>
          <a:xfrm>
            <a:off x="752168" y="104141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Dom</a:t>
            </a:r>
            <a:r>
              <a:rPr lang="fr-FR" sz="3200" b="1" dirty="0">
                <a:solidFill>
                  <a:srgbClr val="1FA7EE"/>
                </a:solidFill>
              </a:rPr>
              <a:t>aine 1: création de services</a:t>
            </a:r>
          </a:p>
        </p:txBody>
      </p:sp>
      <p:pic>
        <p:nvPicPr>
          <p:cNvPr id="4" name="Image 3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308F2B24-BC4E-95FE-98CF-D3ECADE0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72" y="793056"/>
            <a:ext cx="8633796" cy="49142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8CF5C73-1699-B286-6B30-7F5C2AE210F4}"/>
              </a:ext>
            </a:extLst>
          </p:cNvPr>
          <p:cNvSpPr txBox="1"/>
          <p:nvPr/>
        </p:nvSpPr>
        <p:spPr>
          <a:xfrm>
            <a:off x="2949677" y="5830529"/>
            <a:ext cx="7914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L’urbanisation favorise l’accès à l’eau potable, mais elle ne suffit pas à garantir un accès équitable entre les régions.</a:t>
            </a:r>
          </a:p>
          <a:p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B7A97-EB68-02A1-D46C-518853A7EB69}"/>
              </a:ext>
            </a:extLst>
          </p:cNvPr>
          <p:cNvSpPr/>
          <p:nvPr/>
        </p:nvSpPr>
        <p:spPr>
          <a:xfrm>
            <a:off x="4003040" y="4511040"/>
            <a:ext cx="2783840" cy="742946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CB883E-990D-E3A8-2F7A-C76AFE0DABF1}"/>
              </a:ext>
            </a:extLst>
          </p:cNvPr>
          <p:cNvSpPr/>
          <p:nvPr/>
        </p:nvSpPr>
        <p:spPr>
          <a:xfrm>
            <a:off x="2644876" y="2499360"/>
            <a:ext cx="4142004" cy="2011680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67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4400-EB97-304B-C191-6EC4A737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F7EF2E-54F3-8881-FAB4-D291AEE3EA36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1602B1-CC97-EDB5-4253-6F098DD43D4C}"/>
              </a:ext>
            </a:extLst>
          </p:cNvPr>
          <p:cNvSpPr txBox="1"/>
          <p:nvPr/>
        </p:nvSpPr>
        <p:spPr>
          <a:xfrm>
            <a:off x="720705" y="97667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Dom</a:t>
            </a:r>
            <a:r>
              <a:rPr lang="fr-FR" sz="3200" b="1" dirty="0">
                <a:solidFill>
                  <a:srgbClr val="1FA7EE"/>
                </a:solidFill>
              </a:rPr>
              <a:t>aine 2: modernisation des services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0E37CF2-5D36-B213-4C25-9448DC649167}"/>
              </a:ext>
            </a:extLst>
          </p:cNvPr>
          <p:cNvGrpSpPr/>
          <p:nvPr/>
        </p:nvGrpSpPr>
        <p:grpSpPr>
          <a:xfrm>
            <a:off x="1798591" y="990312"/>
            <a:ext cx="8613713" cy="4877375"/>
            <a:chOff x="1798591" y="990312"/>
            <a:chExt cx="8613713" cy="4877375"/>
          </a:xfrm>
        </p:grpSpPr>
        <p:pic>
          <p:nvPicPr>
            <p:cNvPr id="7" name="Image 6" descr="Une image contenant texte, capture d’écran, Caractère coloré, diagramme&#10;&#10;Le contenu généré par l’IA peut être incorrect.">
              <a:extLst>
                <a:ext uri="{FF2B5EF4-FFF2-40B4-BE49-F238E27FC236}">
                  <a16:creationId xmlns:a16="http://schemas.microsoft.com/office/drawing/2014/main" id="{AF6DED9B-22E7-18A9-1B95-AE5237217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591" y="990312"/>
              <a:ext cx="8613713" cy="487737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BFF229-909B-7C53-3E62-72E64098DF3E}"/>
                </a:ext>
              </a:extLst>
            </p:cNvPr>
            <p:cNvSpPr/>
            <p:nvPr/>
          </p:nvSpPr>
          <p:spPr>
            <a:xfrm>
              <a:off x="5772537" y="4446046"/>
              <a:ext cx="2228464" cy="984494"/>
            </a:xfrm>
            <a:prstGeom prst="rect">
              <a:avLst/>
            </a:prstGeom>
            <a:solidFill>
              <a:srgbClr val="FFFF00">
                <a:alpha val="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5EBD14-8658-97B1-81E5-A30B1C7DBDC9}"/>
                </a:ext>
              </a:extLst>
            </p:cNvPr>
            <p:cNvSpPr/>
            <p:nvPr/>
          </p:nvSpPr>
          <p:spPr>
            <a:xfrm>
              <a:off x="2355274" y="3092797"/>
              <a:ext cx="5645728" cy="1353249"/>
            </a:xfrm>
            <a:prstGeom prst="rect">
              <a:avLst/>
            </a:prstGeom>
            <a:solidFill>
              <a:srgbClr val="FFFF00">
                <a:alpha val="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039C0AA1-422B-50CD-EDD2-CAFCA5F5C13E}"/>
              </a:ext>
            </a:extLst>
          </p:cNvPr>
          <p:cNvSpPr txBox="1"/>
          <p:nvPr/>
        </p:nvSpPr>
        <p:spPr>
          <a:xfrm>
            <a:off x="3200400" y="6000750"/>
            <a:ext cx="730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L’accès à l’eau basique ne garantit pas un service sécurisé ; la montée en qualité constitue un enjeu majeur.</a:t>
            </a:r>
          </a:p>
        </p:txBody>
      </p:sp>
    </p:spTree>
    <p:extLst>
      <p:ext uri="{BB962C8B-B14F-4D97-AF65-F5344CB8AC3E}">
        <p14:creationId xmlns:p14="http://schemas.microsoft.com/office/powerpoint/2010/main" val="70934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6076-4E19-34C6-2E3A-0F05ECC9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7FEC3-B98B-787D-F807-B85551EC683B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36B51B-E25F-78A9-E32E-E7A915321768}"/>
              </a:ext>
            </a:extLst>
          </p:cNvPr>
          <p:cNvSpPr txBox="1"/>
          <p:nvPr/>
        </p:nvSpPr>
        <p:spPr>
          <a:xfrm>
            <a:off x="743565" y="127512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Dom</a:t>
            </a:r>
            <a:r>
              <a:rPr lang="fr-FR" sz="3200" b="1" dirty="0">
                <a:solidFill>
                  <a:srgbClr val="1FA7EE"/>
                </a:solidFill>
              </a:rPr>
              <a:t>aine 3: consulting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57119B-9563-FC1A-0AC7-5842A33FF70F}"/>
              </a:ext>
            </a:extLst>
          </p:cNvPr>
          <p:cNvSpPr txBox="1"/>
          <p:nvPr/>
        </p:nvSpPr>
        <p:spPr>
          <a:xfrm>
            <a:off x="1924050" y="5991225"/>
            <a:ext cx="937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L’accès à l’eau basique réduit la mortalité, mais son impact dépend fortement de la qualité, de la continuité et du contexte politique.</a:t>
            </a:r>
          </a:p>
          <a:p>
            <a:endParaRPr lang="fr-FR" dirty="0"/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15B8962E-20F1-DE06-216D-10919D3EE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164" y="1008389"/>
            <a:ext cx="8295231" cy="46867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B5FEB0-6283-9987-6D82-3D7D6DB41742}"/>
              </a:ext>
            </a:extLst>
          </p:cNvPr>
          <p:cNvSpPr/>
          <p:nvPr/>
        </p:nvSpPr>
        <p:spPr>
          <a:xfrm>
            <a:off x="5600700" y="4476750"/>
            <a:ext cx="2152650" cy="745490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41885-04C5-8C0F-5C36-2EE1940D0CBB}"/>
              </a:ext>
            </a:extLst>
          </p:cNvPr>
          <p:cNvSpPr/>
          <p:nvPr/>
        </p:nvSpPr>
        <p:spPr>
          <a:xfrm>
            <a:off x="3448050" y="3671474"/>
            <a:ext cx="4305300" cy="805276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31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DD5F6-9699-222B-ADF1-42BC3F08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4748F8-9A34-6454-AB5A-2B1B4DEB00EC}"/>
              </a:ext>
            </a:extLst>
          </p:cNvPr>
          <p:cNvSpPr/>
          <p:nvPr/>
        </p:nvSpPr>
        <p:spPr>
          <a:xfrm>
            <a:off x="1" y="0"/>
            <a:ext cx="1710812" cy="6858000"/>
          </a:xfrm>
          <a:prstGeom prst="rect">
            <a:avLst/>
          </a:prstGeom>
          <a:solidFill>
            <a:srgbClr val="1FA7EE"/>
          </a:solidFill>
          <a:ln>
            <a:solidFill>
              <a:srgbClr val="1FA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4AC597-03DB-9165-6808-955F12CB434C}"/>
              </a:ext>
            </a:extLst>
          </p:cNvPr>
          <p:cNvSpPr txBox="1"/>
          <p:nvPr/>
        </p:nvSpPr>
        <p:spPr>
          <a:xfrm>
            <a:off x="712839" y="117987"/>
            <a:ext cx="11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Qu’e</a:t>
            </a:r>
            <a:r>
              <a:rPr lang="fr-FR" sz="3200" b="1" dirty="0">
                <a:solidFill>
                  <a:srgbClr val="1FA7EE"/>
                </a:solidFill>
              </a:rPr>
              <a:t>n</a:t>
            </a:r>
            <a:r>
              <a:rPr lang="fr-FR" sz="3200" b="1" dirty="0">
                <a:solidFill>
                  <a:schemeClr val="bg1"/>
                </a:solidFill>
              </a:rPr>
              <a:t> </a:t>
            </a:r>
            <a:r>
              <a:rPr lang="fr-FR" sz="3200" b="1" dirty="0">
                <a:solidFill>
                  <a:srgbClr val="1FA7EE"/>
                </a:solidFill>
              </a:rPr>
              <a:t>conclure ?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A983A1-5D68-0742-CE3C-75F18079F1E4}"/>
              </a:ext>
            </a:extLst>
          </p:cNvPr>
          <p:cNvSpPr txBox="1"/>
          <p:nvPr/>
        </p:nvSpPr>
        <p:spPr>
          <a:xfrm>
            <a:off x="4256314" y="2046514"/>
            <a:ext cx="866502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Cibler les zones à fort potentiel d’impact</a:t>
            </a:r>
            <a:endParaRPr lang="fr-FR" dirty="0"/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Accès à l’eau basique intermédiaire</a:t>
            </a:r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Forte marge de sécurisation des services</a:t>
            </a:r>
          </a:p>
          <a:p>
            <a:pPr>
              <a:lnSpc>
                <a:spcPct val="150000"/>
              </a:lnSpc>
            </a:pPr>
            <a:r>
              <a:rPr lang="fr-FR" b="1" dirty="0"/>
              <a:t>Prioriser la qualité et la continuité</a:t>
            </a:r>
            <a:endParaRPr lang="fr-FR" dirty="0"/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Fiabilité des réseaux</a:t>
            </a:r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Réduction des risques sanitaires</a:t>
            </a:r>
          </a:p>
          <a:p>
            <a:pPr>
              <a:lnSpc>
                <a:spcPct val="150000"/>
              </a:lnSpc>
            </a:pPr>
            <a:r>
              <a:rPr lang="fr-FR" b="1" dirty="0"/>
              <a:t>Financer des projets orientés résultats</a:t>
            </a:r>
            <a:endParaRPr lang="fr-FR" dirty="0"/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Indicateurs clairs de performance et d’impact</a:t>
            </a:r>
          </a:p>
          <a:p>
            <a:pPr marL="742950" lvl="1" indent="-285750">
              <a:lnSpc>
                <a:spcPct val="150000"/>
              </a:lnSpc>
              <a:buClr>
                <a:srgbClr val="1FA7EE"/>
              </a:buClr>
              <a:buFont typeface="Arial" panose="020B0604020202020204" pitchFamily="34" charset="0"/>
              <a:buChar char="→"/>
            </a:pPr>
            <a:r>
              <a:rPr lang="fr-FR" dirty="0"/>
              <a:t>Suivi et évaluations intégrées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C4CA9C-9CF5-4A3A-4D5E-D42F8E60D38F}"/>
              </a:ext>
            </a:extLst>
          </p:cNvPr>
          <p:cNvSpPr txBox="1"/>
          <p:nvPr/>
        </p:nvSpPr>
        <p:spPr>
          <a:xfrm>
            <a:off x="1872343" y="1555875"/>
            <a:ext cx="556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Nous recommandons de: </a:t>
            </a:r>
            <a:endParaRPr lang="fr-FR" sz="2400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805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A323-8075-87E1-2F5E-950E9E137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64F5F0C1-0584-6B5E-D66A-4BFDCA87A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055" y="5018314"/>
            <a:ext cx="2250077" cy="141514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3993809-B0F4-888F-57A8-818EFDCAB75E}"/>
              </a:ext>
            </a:extLst>
          </p:cNvPr>
          <p:cNvSpPr txBox="1"/>
          <p:nvPr/>
        </p:nvSpPr>
        <p:spPr>
          <a:xfrm>
            <a:off x="4313973" y="2538327"/>
            <a:ext cx="817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chemeClr val="bg1"/>
                </a:solidFill>
                <a:highlight>
                  <a:srgbClr val="1FA7EE"/>
                </a:highlight>
              </a:rPr>
              <a:t>Merci à tous</a:t>
            </a:r>
          </a:p>
        </p:txBody>
      </p:sp>
    </p:spTree>
    <p:extLst>
      <p:ext uri="{BB962C8B-B14F-4D97-AF65-F5344CB8AC3E}">
        <p14:creationId xmlns:p14="http://schemas.microsoft.com/office/powerpoint/2010/main" val="217136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575</TotalTime>
  <Words>326</Words>
  <Application>Microsoft Office PowerPoint</Application>
  <PresentationFormat>Grand écran</PresentationFormat>
  <Paragraphs>69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Rocher</dc:creator>
  <cp:lastModifiedBy>Julie Rocher</cp:lastModifiedBy>
  <cp:revision>23</cp:revision>
  <dcterms:created xsi:type="dcterms:W3CDTF">2025-12-11T11:18:25Z</dcterms:created>
  <dcterms:modified xsi:type="dcterms:W3CDTF">2025-12-17T15:59:09Z</dcterms:modified>
</cp:coreProperties>
</file>