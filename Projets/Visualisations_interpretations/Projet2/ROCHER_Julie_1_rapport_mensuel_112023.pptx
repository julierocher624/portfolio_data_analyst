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notesMasterIdLst>
    <p:notesMasterId r:id="rId9"/>
  </p:notesMasterIdLst>
  <p:sldIdLst>
    <p:sldId id="262" r:id="rId2"/>
    <p:sldId id="258" r:id="rId3"/>
    <p:sldId id="256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68DAEE-2B29-41A1-B506-3F3AEBF19D31}" type="doc">
      <dgm:prSet loTypeId="urn:microsoft.com/office/officeart/2005/8/layout/hProcess3" loCatId="process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fr-FR"/>
        </a:p>
      </dgm:t>
    </dgm:pt>
    <dgm:pt modelId="{D10153FE-7218-4091-9F84-8718C1E5B984}">
      <dgm:prSet/>
      <dgm:spPr/>
      <dgm:t>
        <a:bodyPr/>
        <a:lstStyle/>
        <a:p>
          <a:r>
            <a:rPr lang="fr-FR" dirty="0"/>
            <a:t>Evolution de la situation pour les mois à venir </a:t>
          </a:r>
        </a:p>
      </dgm:t>
    </dgm:pt>
    <dgm:pt modelId="{BF64DCAC-F83B-46D8-BED3-EBB11EDAABF0}" type="parTrans" cxnId="{6E1958DD-974D-46E7-9393-FD391DC75176}">
      <dgm:prSet/>
      <dgm:spPr/>
      <dgm:t>
        <a:bodyPr/>
        <a:lstStyle/>
        <a:p>
          <a:endParaRPr lang="fr-FR"/>
        </a:p>
      </dgm:t>
    </dgm:pt>
    <dgm:pt modelId="{D6094066-D694-468D-A7F0-9F5AD2F2A96B}" type="sibTrans" cxnId="{6E1958DD-974D-46E7-9393-FD391DC75176}">
      <dgm:prSet/>
      <dgm:spPr/>
      <dgm:t>
        <a:bodyPr/>
        <a:lstStyle/>
        <a:p>
          <a:endParaRPr lang="fr-FR"/>
        </a:p>
      </dgm:t>
    </dgm:pt>
    <dgm:pt modelId="{CBE2BE8D-2229-4380-B3F5-0F242D72AC87}" type="pres">
      <dgm:prSet presAssocID="{FF68DAEE-2B29-41A1-B506-3F3AEBF19D31}" presName="Name0" presStyleCnt="0">
        <dgm:presLayoutVars>
          <dgm:dir/>
          <dgm:animLvl val="lvl"/>
          <dgm:resizeHandles val="exact"/>
        </dgm:presLayoutVars>
      </dgm:prSet>
      <dgm:spPr/>
    </dgm:pt>
    <dgm:pt modelId="{7CCE42DB-10D1-49D6-88A5-25EE0FA999BF}" type="pres">
      <dgm:prSet presAssocID="{FF68DAEE-2B29-41A1-B506-3F3AEBF19D31}" presName="dummy" presStyleCnt="0"/>
      <dgm:spPr/>
    </dgm:pt>
    <dgm:pt modelId="{33115E67-CD1A-47BF-B95E-B5A94F0A36B9}" type="pres">
      <dgm:prSet presAssocID="{FF68DAEE-2B29-41A1-B506-3F3AEBF19D31}" presName="linH" presStyleCnt="0"/>
      <dgm:spPr/>
    </dgm:pt>
    <dgm:pt modelId="{0BBEAEE0-D62A-4A52-83E0-34C682D0FC3E}" type="pres">
      <dgm:prSet presAssocID="{FF68DAEE-2B29-41A1-B506-3F3AEBF19D31}" presName="padding1" presStyleCnt="0"/>
      <dgm:spPr/>
    </dgm:pt>
    <dgm:pt modelId="{DD5268A5-53D2-4383-BEEE-8E0F12D356DD}" type="pres">
      <dgm:prSet presAssocID="{D10153FE-7218-4091-9F84-8718C1E5B984}" presName="linV" presStyleCnt="0"/>
      <dgm:spPr/>
    </dgm:pt>
    <dgm:pt modelId="{D8A75338-580F-40C9-91FD-1E5B49A4F021}" type="pres">
      <dgm:prSet presAssocID="{D10153FE-7218-4091-9F84-8718C1E5B984}" presName="spVertical1" presStyleCnt="0"/>
      <dgm:spPr/>
    </dgm:pt>
    <dgm:pt modelId="{7CAF30F2-271A-4943-AC42-437C9FB4E59E}" type="pres">
      <dgm:prSet presAssocID="{D10153FE-7218-4091-9F84-8718C1E5B984}" presName="parTx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A1035C95-69D9-4DB7-9792-B47EC08428E5}" type="pres">
      <dgm:prSet presAssocID="{D10153FE-7218-4091-9F84-8718C1E5B984}" presName="spVertical2" presStyleCnt="0"/>
      <dgm:spPr/>
    </dgm:pt>
    <dgm:pt modelId="{8FE299D6-1EFA-49CC-AB4F-7DFD7FCB1940}" type="pres">
      <dgm:prSet presAssocID="{D10153FE-7218-4091-9F84-8718C1E5B984}" presName="spVertical3" presStyleCnt="0"/>
      <dgm:spPr/>
    </dgm:pt>
    <dgm:pt modelId="{AEB146AC-14E7-46C8-9BE5-A56025530E4A}" type="pres">
      <dgm:prSet presAssocID="{FF68DAEE-2B29-41A1-B506-3F3AEBF19D31}" presName="padding2" presStyleCnt="0"/>
      <dgm:spPr/>
    </dgm:pt>
    <dgm:pt modelId="{4F964640-3C9C-4764-B7A5-A367F4B60C39}" type="pres">
      <dgm:prSet presAssocID="{FF68DAEE-2B29-41A1-B506-3F3AEBF19D31}" presName="negArrow" presStyleCnt="0"/>
      <dgm:spPr/>
    </dgm:pt>
    <dgm:pt modelId="{8324257C-CC12-4DDA-8F17-E7F5F6D2816A}" type="pres">
      <dgm:prSet presAssocID="{FF68DAEE-2B29-41A1-B506-3F3AEBF19D31}" presName="backgroundArrow" presStyleLbl="node1" presStyleIdx="0" presStyleCnt="1" custLinFactNeighborX="9715" custLinFactNeighborY="1192"/>
      <dgm:spPr/>
    </dgm:pt>
  </dgm:ptLst>
  <dgm:cxnLst>
    <dgm:cxn modelId="{F7B82495-3DE9-49C6-8956-CE3348940959}" type="presOf" srcId="{FF68DAEE-2B29-41A1-B506-3F3AEBF19D31}" destId="{CBE2BE8D-2229-4380-B3F5-0F242D72AC87}" srcOrd="0" destOrd="0" presId="urn:microsoft.com/office/officeart/2005/8/layout/hProcess3"/>
    <dgm:cxn modelId="{030F38B3-ACBB-486A-9287-47CB45A4FDD5}" type="presOf" srcId="{D10153FE-7218-4091-9F84-8718C1E5B984}" destId="{7CAF30F2-271A-4943-AC42-437C9FB4E59E}" srcOrd="0" destOrd="0" presId="urn:microsoft.com/office/officeart/2005/8/layout/hProcess3"/>
    <dgm:cxn modelId="{6E1958DD-974D-46E7-9393-FD391DC75176}" srcId="{FF68DAEE-2B29-41A1-B506-3F3AEBF19D31}" destId="{D10153FE-7218-4091-9F84-8718C1E5B984}" srcOrd="0" destOrd="0" parTransId="{BF64DCAC-F83B-46D8-BED3-EBB11EDAABF0}" sibTransId="{D6094066-D694-468D-A7F0-9F5AD2F2A96B}"/>
    <dgm:cxn modelId="{BBB24E10-5DF2-4ED8-90D6-7F6B2BD2F64D}" type="presParOf" srcId="{CBE2BE8D-2229-4380-B3F5-0F242D72AC87}" destId="{7CCE42DB-10D1-49D6-88A5-25EE0FA999BF}" srcOrd="0" destOrd="0" presId="urn:microsoft.com/office/officeart/2005/8/layout/hProcess3"/>
    <dgm:cxn modelId="{222C501A-1D0F-42C7-9F88-099CD1D577C7}" type="presParOf" srcId="{CBE2BE8D-2229-4380-B3F5-0F242D72AC87}" destId="{33115E67-CD1A-47BF-B95E-B5A94F0A36B9}" srcOrd="1" destOrd="0" presId="urn:microsoft.com/office/officeart/2005/8/layout/hProcess3"/>
    <dgm:cxn modelId="{174408C3-76F8-4127-B5C1-C928879CB0AC}" type="presParOf" srcId="{33115E67-CD1A-47BF-B95E-B5A94F0A36B9}" destId="{0BBEAEE0-D62A-4A52-83E0-34C682D0FC3E}" srcOrd="0" destOrd="0" presId="urn:microsoft.com/office/officeart/2005/8/layout/hProcess3"/>
    <dgm:cxn modelId="{6B61D788-1C8D-450B-8B40-61A64641DA52}" type="presParOf" srcId="{33115E67-CD1A-47BF-B95E-B5A94F0A36B9}" destId="{DD5268A5-53D2-4383-BEEE-8E0F12D356DD}" srcOrd="1" destOrd="0" presId="urn:microsoft.com/office/officeart/2005/8/layout/hProcess3"/>
    <dgm:cxn modelId="{0421BEDF-B9E5-4108-BDF5-A75A03647DAB}" type="presParOf" srcId="{DD5268A5-53D2-4383-BEEE-8E0F12D356DD}" destId="{D8A75338-580F-40C9-91FD-1E5B49A4F021}" srcOrd="0" destOrd="0" presId="urn:microsoft.com/office/officeart/2005/8/layout/hProcess3"/>
    <dgm:cxn modelId="{D4FFC290-7656-48AB-8D28-516A1091C63C}" type="presParOf" srcId="{DD5268A5-53D2-4383-BEEE-8E0F12D356DD}" destId="{7CAF30F2-271A-4943-AC42-437C9FB4E59E}" srcOrd="1" destOrd="0" presId="urn:microsoft.com/office/officeart/2005/8/layout/hProcess3"/>
    <dgm:cxn modelId="{F41543CE-232D-4D1E-A44A-03893EB46C82}" type="presParOf" srcId="{DD5268A5-53D2-4383-BEEE-8E0F12D356DD}" destId="{A1035C95-69D9-4DB7-9792-B47EC08428E5}" srcOrd="2" destOrd="0" presId="urn:microsoft.com/office/officeart/2005/8/layout/hProcess3"/>
    <dgm:cxn modelId="{94EAE3EB-CF0A-475D-8CC0-B88C9CB4DA4F}" type="presParOf" srcId="{DD5268A5-53D2-4383-BEEE-8E0F12D356DD}" destId="{8FE299D6-1EFA-49CC-AB4F-7DFD7FCB1940}" srcOrd="3" destOrd="0" presId="urn:microsoft.com/office/officeart/2005/8/layout/hProcess3"/>
    <dgm:cxn modelId="{62151DD1-9BA5-481A-9CF1-F11395E0B502}" type="presParOf" srcId="{33115E67-CD1A-47BF-B95E-B5A94F0A36B9}" destId="{AEB146AC-14E7-46C8-9BE5-A56025530E4A}" srcOrd="2" destOrd="0" presId="urn:microsoft.com/office/officeart/2005/8/layout/hProcess3"/>
    <dgm:cxn modelId="{4313FF68-233F-49CC-AFB6-C3489AD0BD50}" type="presParOf" srcId="{33115E67-CD1A-47BF-B95E-B5A94F0A36B9}" destId="{4F964640-3C9C-4764-B7A5-A367F4B60C39}" srcOrd="3" destOrd="0" presId="urn:microsoft.com/office/officeart/2005/8/layout/hProcess3"/>
    <dgm:cxn modelId="{3EFB52C3-0D9D-464E-BA68-B4E735E8B37C}" type="presParOf" srcId="{33115E67-CD1A-47BF-B95E-B5A94F0A36B9}" destId="{8324257C-CC12-4DDA-8F17-E7F5F6D2816A}" srcOrd="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24257C-CC12-4DDA-8F17-E7F5F6D2816A}">
      <dsp:nvSpPr>
        <dsp:cNvPr id="0" name=""/>
        <dsp:cNvSpPr/>
      </dsp:nvSpPr>
      <dsp:spPr>
        <a:xfrm>
          <a:off x="0" y="206871"/>
          <a:ext cx="7203232" cy="2806921"/>
        </a:xfrm>
        <a:prstGeom prst="rightArrow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CAF30F2-271A-4943-AC42-437C9FB4E59E}">
      <dsp:nvSpPr>
        <dsp:cNvPr id="0" name=""/>
        <dsp:cNvSpPr/>
      </dsp:nvSpPr>
      <dsp:spPr>
        <a:xfrm>
          <a:off x="581041" y="875143"/>
          <a:ext cx="5901866" cy="140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94640" rIns="0" bIns="29464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 dirty="0"/>
            <a:t>Evolution de la situation pour les mois à venir </a:t>
          </a:r>
        </a:p>
      </dsp:txBody>
      <dsp:txXfrm>
        <a:off x="581041" y="875143"/>
        <a:ext cx="5901866" cy="1403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7T15:28:26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9C8A-545B-4AA5-9CD2-42DB9A87F820}" type="datetimeFigureOut">
              <a:rPr lang="fr-FR" smtClean="0"/>
              <a:t>03/01/2024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EF9C34-BE3D-4D04-9324-159C4C71BE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4844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884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13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475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936841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85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66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3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126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88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730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73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58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87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291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40" r:id="rId5"/>
    <p:sldLayoutId id="2147483745" r:id="rId6"/>
    <p:sldLayoutId id="2147483741" r:id="rId7"/>
    <p:sldLayoutId id="2147483742" r:id="rId8"/>
    <p:sldLayoutId id="2147483743" r:id="rId9"/>
    <p:sldLayoutId id="2147483744" r:id="rId10"/>
    <p:sldLayoutId id="214748374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Motif d'aquarelle bleu abstrait sur arrière-plan blanc">
            <a:extLst>
              <a:ext uri="{FF2B5EF4-FFF2-40B4-BE49-F238E27FC236}">
                <a16:creationId xmlns:a16="http://schemas.microsoft.com/office/drawing/2014/main" id="{EDD7B38E-9E81-3D21-D2ED-F5575F113C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644" b="1086"/>
          <a:stretch/>
        </p:blipFill>
        <p:spPr>
          <a:xfrm>
            <a:off x="21" y="10"/>
            <a:ext cx="12191979" cy="6857990"/>
          </a:xfrm>
          <a:prstGeom prst="rect">
            <a:avLst/>
          </a:prstGeom>
          <a:noFill/>
        </p:spPr>
      </p:pic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1DADFCF0-0793-6B1D-46CC-DB606B46F6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8076485"/>
              </p:ext>
            </p:extLst>
          </p:nvPr>
        </p:nvGraphicFramePr>
        <p:xfrm>
          <a:off x="2494384" y="1483567"/>
          <a:ext cx="7203232" cy="31537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91691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Motif d'aquarelle bleu abstrait sur arrière-plan blanc">
            <a:extLst>
              <a:ext uri="{FF2B5EF4-FFF2-40B4-BE49-F238E27FC236}">
                <a16:creationId xmlns:a16="http://schemas.microsoft.com/office/drawing/2014/main" id="{EDD7B38E-9E81-3D21-D2ED-F5575F113C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644" b="1086"/>
          <a:stretch/>
        </p:blipFill>
        <p:spPr>
          <a:xfrm>
            <a:off x="20" y="10"/>
            <a:ext cx="12191979" cy="6857990"/>
          </a:xfrm>
          <a:prstGeom prst="rect">
            <a:avLst/>
          </a:prstGeom>
          <a:noFill/>
        </p:spPr>
      </p:pic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6D3A378B-30F2-677E-ADE3-D997934714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7379" y="4629744"/>
            <a:ext cx="265350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6B1D78EF-5956-4716-AF4F-EFA2E1A44271}" type="datetime1">
              <a:rPr lang="en-US" smtClean="0"/>
              <a:pPr>
                <a:spcAft>
                  <a:spcPts val="600"/>
                </a:spcAft>
              </a:pPr>
              <a:t>1/3/2024</a:t>
            </a:fld>
            <a:endParaRPr lang="en-US"/>
          </a:p>
        </p:txBody>
      </p:sp>
      <p:pic>
        <p:nvPicPr>
          <p:cNvPr id="3" name="Image 2" descr="Une image contenant texte, capture d’écran, ligne, Tracé&#10;&#10;Description générée automatiquement">
            <a:extLst>
              <a:ext uri="{FF2B5EF4-FFF2-40B4-BE49-F238E27FC236}">
                <a16:creationId xmlns:a16="http://schemas.microsoft.com/office/drawing/2014/main" id="{88808039-6F7D-D336-63A9-24F1857631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671" y="578979"/>
            <a:ext cx="7668811" cy="596463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8D6A702-4E6A-5D28-6A0C-EFC2AF99659B}"/>
              </a:ext>
            </a:extLst>
          </p:cNvPr>
          <p:cNvSpPr/>
          <p:nvPr/>
        </p:nvSpPr>
        <p:spPr>
          <a:xfrm>
            <a:off x="503884" y="1354365"/>
            <a:ext cx="3442965" cy="414927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Malgré une augmentation exponentielle du nombre de ventes, nous avons une évolution plus timide du chiffre d’affaires allant jusqu’à sa baisse dès janvier 2020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r"/>
            <a:endParaRPr lang="fr-FR" dirty="0"/>
          </a:p>
          <a:p>
            <a:pPr algn="ctr"/>
            <a:r>
              <a:rPr lang="fr-FR" dirty="0"/>
              <a:t>du panier moyen</a:t>
            </a:r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7C66C0FB-6090-A8FE-D5D2-B872D4042B5B}"/>
              </a:ext>
            </a:extLst>
          </p:cNvPr>
          <p:cNvSpPr/>
          <p:nvPr/>
        </p:nvSpPr>
        <p:spPr>
          <a:xfrm rot="2165509">
            <a:off x="551669" y="4406803"/>
            <a:ext cx="744741" cy="527824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541A7EE-857A-6672-5FA6-B1E92480092D}"/>
              </a:ext>
            </a:extLst>
          </p:cNvPr>
          <p:cNvSpPr txBox="1"/>
          <p:nvPr/>
        </p:nvSpPr>
        <p:spPr>
          <a:xfrm>
            <a:off x="-225012" y="49219"/>
            <a:ext cx="1174517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bg1"/>
                </a:solidFill>
              </a:rPr>
              <a:t>Evolution du chiffre d’affaires en fonction du nombre de ventes et déduction du CA à venir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9935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Motif d'aquarelle bleu abstrait sur arrière-plan blanc">
            <a:extLst>
              <a:ext uri="{FF2B5EF4-FFF2-40B4-BE49-F238E27FC236}">
                <a16:creationId xmlns:a16="http://schemas.microsoft.com/office/drawing/2014/main" id="{EDD7B38E-9E81-3D21-D2ED-F5575F113C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644" b="1086"/>
          <a:stretch/>
        </p:blipFill>
        <p:spPr>
          <a:xfrm>
            <a:off x="0" y="0"/>
            <a:ext cx="12191979" cy="6857990"/>
          </a:xfrm>
          <a:prstGeom prst="rect">
            <a:avLst/>
          </a:prstGeom>
          <a:noFill/>
        </p:spPr>
      </p:pic>
      <p:pic>
        <p:nvPicPr>
          <p:cNvPr id="9" name="Image 8" descr="Une image contenant texte, capture d’écran, Tracé, ligne&#10;&#10;Description générée automatiquement">
            <a:extLst>
              <a:ext uri="{FF2B5EF4-FFF2-40B4-BE49-F238E27FC236}">
                <a16:creationId xmlns:a16="http://schemas.microsoft.com/office/drawing/2014/main" id="{B15DD795-AC6A-A17A-0BF5-42D2D9A662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074" y="795065"/>
            <a:ext cx="7084871" cy="551045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411506DE-FF07-25B3-762A-0F4CFDB0F8DF}"/>
              </a:ext>
            </a:extLst>
          </p:cNvPr>
          <p:cNvSpPr txBox="1"/>
          <p:nvPr/>
        </p:nvSpPr>
        <p:spPr>
          <a:xfrm>
            <a:off x="1614196" y="152369"/>
            <a:ext cx="8546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bg1"/>
                </a:solidFill>
              </a:rPr>
              <a:t>Evolution du nombre d’achat et du nombre de visites sur le site 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9F28572-0F33-E762-84C2-2804D4CE048F}"/>
              </a:ext>
            </a:extLst>
          </p:cNvPr>
          <p:cNvSpPr/>
          <p:nvPr/>
        </p:nvSpPr>
        <p:spPr>
          <a:xfrm rot="5400000">
            <a:off x="8831423" y="3018482"/>
            <a:ext cx="2136710" cy="341500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F0D1564-747A-BD13-7B09-29A987E416D9}"/>
              </a:ext>
            </a:extLst>
          </p:cNvPr>
          <p:cNvSpPr txBox="1"/>
          <p:nvPr/>
        </p:nvSpPr>
        <p:spPr>
          <a:xfrm>
            <a:off x="8677438" y="3987320"/>
            <a:ext cx="25379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Un nombre de ventes qui augmente timidement malgré l’essor du nombre de visites sur le site </a:t>
            </a:r>
          </a:p>
        </p:txBody>
      </p:sp>
    </p:spTree>
    <p:extLst>
      <p:ext uri="{BB962C8B-B14F-4D97-AF65-F5344CB8AC3E}">
        <p14:creationId xmlns:p14="http://schemas.microsoft.com/office/powerpoint/2010/main" val="3096122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Motif d'aquarelle bleu abstrait sur arrière-plan blanc">
            <a:extLst>
              <a:ext uri="{FF2B5EF4-FFF2-40B4-BE49-F238E27FC236}">
                <a16:creationId xmlns:a16="http://schemas.microsoft.com/office/drawing/2014/main" id="{EDD7B38E-9E81-3D21-D2ED-F5575F113C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644" b="1086"/>
          <a:stretch/>
        </p:blipFill>
        <p:spPr>
          <a:xfrm>
            <a:off x="20" y="10"/>
            <a:ext cx="12191979" cy="6857990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C8DC6ED5-B819-48F0-531E-C576DB800470}"/>
                  </a:ext>
                </a:extLst>
              </p14:cNvPr>
              <p14:cNvContentPartPr/>
              <p14:nvPr/>
            </p14:nvContentPartPr>
            <p14:xfrm>
              <a:off x="5448688" y="5710401"/>
              <a:ext cx="360" cy="360"/>
            </p14:xfrm>
          </p:contentPart>
        </mc:Choice>
        <mc:Fallback xmlns=""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C8DC6ED5-B819-48F0-531E-C576DB8004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42568" y="5704281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Image 4" descr="Une image contenant capture d’écran, visualisation&#10;&#10;Description générée automatiquement">
            <a:extLst>
              <a:ext uri="{FF2B5EF4-FFF2-40B4-BE49-F238E27FC236}">
                <a16:creationId xmlns:a16="http://schemas.microsoft.com/office/drawing/2014/main" id="{6B3B46B6-A103-7E7C-7592-438730C7C8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903" y="904723"/>
            <a:ext cx="6809395" cy="5296197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D6FB0098-F160-6EC1-CEB2-7BEB8162EBAF}"/>
              </a:ext>
            </a:extLst>
          </p:cNvPr>
          <p:cNvSpPr/>
          <p:nvPr/>
        </p:nvSpPr>
        <p:spPr>
          <a:xfrm rot="5400000">
            <a:off x="904995" y="1847026"/>
            <a:ext cx="2490551" cy="3163947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D8906E-50AA-7072-E9E4-617E3A3AF6FF}"/>
              </a:ext>
            </a:extLst>
          </p:cNvPr>
          <p:cNvSpPr txBox="1"/>
          <p:nvPr/>
        </p:nvSpPr>
        <p:spPr>
          <a:xfrm>
            <a:off x="475861" y="83976"/>
            <a:ext cx="10823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bg2"/>
                </a:solidFill>
              </a:rPr>
              <a:t>Montant d’une vente selon le temps passé sur le site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03F9849-FA54-3C57-68FD-870B4714BC4C}"/>
              </a:ext>
            </a:extLst>
          </p:cNvPr>
          <p:cNvSpPr txBox="1"/>
          <p:nvPr/>
        </p:nvSpPr>
        <p:spPr>
          <a:xfrm>
            <a:off x="1038808" y="2551839"/>
            <a:ext cx="24352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2"/>
                </a:solidFill>
              </a:rPr>
              <a:t>Une majorité des clients dépensent entre </a:t>
            </a:r>
            <a:r>
              <a:rPr lang="fr-FR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30 € et 50 € </a:t>
            </a:r>
            <a:r>
              <a:rPr lang="fr-FR" dirty="0">
                <a:solidFill>
                  <a:schemeClr val="bg2"/>
                </a:solidFill>
              </a:rPr>
              <a:t>quand ils passent entre </a:t>
            </a:r>
            <a:r>
              <a:rPr lang="fr-FR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et 10 minutes </a:t>
            </a:r>
            <a:r>
              <a:rPr lang="fr-FR" dirty="0">
                <a:solidFill>
                  <a:schemeClr val="bg2"/>
                </a:solidFill>
              </a:rPr>
              <a:t>sur le site </a:t>
            </a:r>
          </a:p>
        </p:txBody>
      </p:sp>
    </p:spTree>
    <p:extLst>
      <p:ext uri="{BB962C8B-B14F-4D97-AF65-F5344CB8AC3E}">
        <p14:creationId xmlns:p14="http://schemas.microsoft.com/office/powerpoint/2010/main" val="1050461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Motif d'aquarelle bleu abstrait sur arrière-plan blanc">
            <a:extLst>
              <a:ext uri="{FF2B5EF4-FFF2-40B4-BE49-F238E27FC236}">
                <a16:creationId xmlns:a16="http://schemas.microsoft.com/office/drawing/2014/main" id="{EDD7B38E-9E81-3D21-D2ED-F5575F113C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644" b="1086"/>
          <a:stretch/>
        </p:blipFill>
        <p:spPr>
          <a:xfrm>
            <a:off x="20" y="10"/>
            <a:ext cx="12191979" cy="6857990"/>
          </a:xfrm>
          <a:prstGeom prst="rect">
            <a:avLst/>
          </a:prstGeom>
          <a:noFill/>
        </p:spPr>
      </p:pic>
      <p:pic>
        <p:nvPicPr>
          <p:cNvPr id="3" name="Image 2" descr="Une image contenant diagramme, cercle, capture d’écran, Graphique&#10;&#10;Description générée automatiquement">
            <a:extLst>
              <a:ext uri="{FF2B5EF4-FFF2-40B4-BE49-F238E27FC236}">
                <a16:creationId xmlns:a16="http://schemas.microsoft.com/office/drawing/2014/main" id="{56A65A31-C05C-1EDF-B71E-CED4472E59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26" t="15426" r="18865" b="6079"/>
          <a:stretch/>
        </p:blipFill>
        <p:spPr>
          <a:xfrm>
            <a:off x="1315616" y="1451465"/>
            <a:ext cx="4276531" cy="412413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37A4D24-6847-D5B8-4AD7-DFE1D9188998}"/>
              </a:ext>
            </a:extLst>
          </p:cNvPr>
          <p:cNvSpPr txBox="1"/>
          <p:nvPr/>
        </p:nvSpPr>
        <p:spPr>
          <a:xfrm>
            <a:off x="2006082" y="111967"/>
            <a:ext cx="80056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+mj-lt"/>
              </a:rPr>
              <a:t>L</a:t>
            </a:r>
            <a:r>
              <a:rPr lang="fr-FR" sz="2000" b="1" i="0" dirty="0">
                <a:solidFill>
                  <a:schemeClr val="bg1"/>
                </a:solidFill>
                <a:effectLst/>
                <a:latin typeface="+mj-lt"/>
              </a:rPr>
              <a:t>a proportion des ventes par catégorie de produit</a:t>
            </a:r>
            <a:endParaRPr lang="fr-FR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00263A9C-A6DA-3483-E447-D2C1E6FEDB10}"/>
              </a:ext>
            </a:extLst>
          </p:cNvPr>
          <p:cNvSpPr/>
          <p:nvPr/>
        </p:nvSpPr>
        <p:spPr>
          <a:xfrm>
            <a:off x="6774024" y="2071396"/>
            <a:ext cx="4777274" cy="327504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B1357D6-364B-5CAC-6CD7-4C553FE389E3}"/>
              </a:ext>
            </a:extLst>
          </p:cNvPr>
          <p:cNvSpPr txBox="1"/>
          <p:nvPr/>
        </p:nvSpPr>
        <p:spPr>
          <a:xfrm>
            <a:off x="6960637" y="2295331"/>
            <a:ext cx="4422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Pendant l’année écoulée,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F9834-49B0-CDF7-B3B3-EF64BEEB6DB8}"/>
              </a:ext>
            </a:extLst>
          </p:cNvPr>
          <p:cNvSpPr txBox="1"/>
          <p:nvPr/>
        </p:nvSpPr>
        <p:spPr>
          <a:xfrm>
            <a:off x="6850224" y="3051110"/>
            <a:ext cx="4624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High Tech</a:t>
            </a:r>
            <a:r>
              <a:rPr lang="fr-FR" dirty="0"/>
              <a:t>     </a:t>
            </a:r>
            <a:r>
              <a:rPr lang="fr-FR" dirty="0">
                <a:solidFill>
                  <a:schemeClr val="accent6">
                    <a:lumMod val="50000"/>
                  </a:schemeClr>
                </a:solidFill>
              </a:rPr>
              <a:t>biens de conso     </a:t>
            </a:r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nourriture</a:t>
            </a:r>
          </a:p>
        </p:txBody>
      </p:sp>
      <p:sp>
        <p:nvSpPr>
          <p:cNvPr id="8" name="Flèche : bas 7">
            <a:extLst>
              <a:ext uri="{FF2B5EF4-FFF2-40B4-BE49-F238E27FC236}">
                <a16:creationId xmlns:a16="http://schemas.microsoft.com/office/drawing/2014/main" id="{E255AAA6-ACFA-FF4E-1E0D-B8AC31025204}"/>
              </a:ext>
            </a:extLst>
          </p:cNvPr>
          <p:cNvSpPr/>
          <p:nvPr/>
        </p:nvSpPr>
        <p:spPr>
          <a:xfrm>
            <a:off x="7316754" y="3498979"/>
            <a:ext cx="270588" cy="61582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lèche : bas 8">
            <a:extLst>
              <a:ext uri="{FF2B5EF4-FFF2-40B4-BE49-F238E27FC236}">
                <a16:creationId xmlns:a16="http://schemas.microsoft.com/office/drawing/2014/main" id="{FB03A176-4645-FA0B-821C-B655CE189E53}"/>
              </a:ext>
            </a:extLst>
          </p:cNvPr>
          <p:cNvSpPr/>
          <p:nvPr/>
        </p:nvSpPr>
        <p:spPr>
          <a:xfrm>
            <a:off x="8901404" y="3470205"/>
            <a:ext cx="270588" cy="61582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 : bas 9">
            <a:extLst>
              <a:ext uri="{FF2B5EF4-FFF2-40B4-BE49-F238E27FC236}">
                <a16:creationId xmlns:a16="http://schemas.microsoft.com/office/drawing/2014/main" id="{91A21AE4-A5ED-FBAB-4EBF-E64694E94C70}"/>
              </a:ext>
            </a:extLst>
          </p:cNvPr>
          <p:cNvSpPr/>
          <p:nvPr/>
        </p:nvSpPr>
        <p:spPr>
          <a:xfrm>
            <a:off x="10605796" y="3448443"/>
            <a:ext cx="270588" cy="61582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5D0F722-B519-4EAE-2717-296BCF4CFBBE}"/>
              </a:ext>
            </a:extLst>
          </p:cNvPr>
          <p:cNvSpPr txBox="1"/>
          <p:nvPr/>
        </p:nvSpPr>
        <p:spPr>
          <a:xfrm>
            <a:off x="6850224" y="4273420"/>
            <a:ext cx="4533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     45%                  </a:t>
            </a:r>
            <a:r>
              <a:rPr lang="fr-FR" dirty="0">
                <a:solidFill>
                  <a:schemeClr val="accent6">
                    <a:lumMod val="50000"/>
                  </a:schemeClr>
                </a:solidFill>
              </a:rPr>
              <a:t>33%                     </a:t>
            </a:r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22%</a:t>
            </a:r>
          </a:p>
        </p:txBody>
      </p:sp>
    </p:spTree>
    <p:extLst>
      <p:ext uri="{BB962C8B-B14F-4D97-AF65-F5344CB8AC3E}">
        <p14:creationId xmlns:p14="http://schemas.microsoft.com/office/powerpoint/2010/main" val="703514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Motif d'aquarelle bleu abstrait sur arrière-plan blanc">
            <a:extLst>
              <a:ext uri="{FF2B5EF4-FFF2-40B4-BE49-F238E27FC236}">
                <a16:creationId xmlns:a16="http://schemas.microsoft.com/office/drawing/2014/main" id="{EDD7B38E-9E81-3D21-D2ED-F5575F113C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644" b="1086"/>
          <a:stretch/>
        </p:blipFill>
        <p:spPr>
          <a:xfrm>
            <a:off x="21" y="10"/>
            <a:ext cx="12191979" cy="6857990"/>
          </a:xfrm>
          <a:prstGeom prst="rect">
            <a:avLst/>
          </a:prstGeom>
          <a:noFill/>
        </p:spPr>
      </p:pic>
      <p:pic>
        <p:nvPicPr>
          <p:cNvPr id="3" name="Image 2" descr="Une image contenant texte, diagramme, capture d’écran, Rectangle&#10;&#10;Description générée automatiquement">
            <a:extLst>
              <a:ext uri="{FF2B5EF4-FFF2-40B4-BE49-F238E27FC236}">
                <a16:creationId xmlns:a16="http://schemas.microsoft.com/office/drawing/2014/main" id="{C900855D-F17A-8BF1-3344-A90450DDC58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2" t="10724" r="7870" b="7225"/>
          <a:stretch/>
        </p:blipFill>
        <p:spPr>
          <a:xfrm>
            <a:off x="4702626" y="895738"/>
            <a:ext cx="7119259" cy="525313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35CAFAF-7409-E552-E224-CC80B69786F3}"/>
              </a:ext>
            </a:extLst>
          </p:cNvPr>
          <p:cNvSpPr txBox="1"/>
          <p:nvPr/>
        </p:nvSpPr>
        <p:spPr>
          <a:xfrm>
            <a:off x="1129004" y="102637"/>
            <a:ext cx="95918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+mj-lt"/>
              </a:rPr>
              <a:t>L</a:t>
            </a:r>
            <a:r>
              <a:rPr lang="fr-FR" sz="2000" b="1" i="0" dirty="0">
                <a:solidFill>
                  <a:schemeClr val="bg1"/>
                </a:solidFill>
                <a:effectLst/>
                <a:latin typeface="+mj-lt"/>
              </a:rPr>
              <a:t>a variabilité du temps passé par les visiteurs sur le site web</a:t>
            </a:r>
            <a:endParaRPr lang="fr-FR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1C467DC-764D-CE02-4690-47C42B9664DD}"/>
              </a:ext>
            </a:extLst>
          </p:cNvPr>
          <p:cNvSpPr txBox="1"/>
          <p:nvPr/>
        </p:nvSpPr>
        <p:spPr>
          <a:xfrm>
            <a:off x="307907" y="1807741"/>
            <a:ext cx="37509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Les clients passaient 7 à 8 minutes sur le site avant d’acheter, maintenant ils passent de 5 à 10 minutes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C7B1DD5-2149-4B7D-65C5-B6DA321EA567}"/>
              </a:ext>
            </a:extLst>
          </p:cNvPr>
          <p:cNvSpPr txBox="1"/>
          <p:nvPr/>
        </p:nvSpPr>
        <p:spPr>
          <a:xfrm>
            <a:off x="289248" y="3185808"/>
            <a:ext cx="40339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50% des clients passent moins de 6 mins sur le site et 50% des clients passent plus de 6 mins sur le site </a:t>
            </a:r>
          </a:p>
        </p:txBody>
      </p:sp>
    </p:spTree>
    <p:extLst>
      <p:ext uri="{BB962C8B-B14F-4D97-AF65-F5344CB8AC3E}">
        <p14:creationId xmlns:p14="http://schemas.microsoft.com/office/powerpoint/2010/main" val="1486283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Motif d'aquarelle bleu abstrait sur arrière-plan blanc">
            <a:extLst>
              <a:ext uri="{FF2B5EF4-FFF2-40B4-BE49-F238E27FC236}">
                <a16:creationId xmlns:a16="http://schemas.microsoft.com/office/drawing/2014/main" id="{EDD7B38E-9E81-3D21-D2ED-F5575F113C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644" b="1086"/>
          <a:stretch/>
        </p:blipFill>
        <p:spPr>
          <a:xfrm>
            <a:off x="0" y="10"/>
            <a:ext cx="12191979" cy="6857990"/>
          </a:xfrm>
          <a:prstGeom prst="rect">
            <a:avLst/>
          </a:prstGeom>
          <a:noFill/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E7EAAE4-52B6-CFBA-6817-CA7FA5AD0480}"/>
              </a:ext>
            </a:extLst>
          </p:cNvPr>
          <p:cNvSpPr txBox="1"/>
          <p:nvPr/>
        </p:nvSpPr>
        <p:spPr>
          <a:xfrm>
            <a:off x="4898571" y="261257"/>
            <a:ext cx="6624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</a:rPr>
              <a:t>Conclusion</a:t>
            </a:r>
          </a:p>
        </p:txBody>
      </p:sp>
      <p:pic>
        <p:nvPicPr>
          <p:cNvPr id="7" name="Graphique 6" descr="Graphique exponentiel contour">
            <a:extLst>
              <a:ext uri="{FF2B5EF4-FFF2-40B4-BE49-F238E27FC236}">
                <a16:creationId xmlns:a16="http://schemas.microsoft.com/office/drawing/2014/main" id="{866B4304-1346-D54E-8067-5D3C57AB3B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979" y="1180322"/>
            <a:ext cx="914400" cy="9144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3DD7F638-A79D-DB63-8D83-EE6B99E14874}"/>
              </a:ext>
            </a:extLst>
          </p:cNvPr>
          <p:cNvSpPr txBox="1"/>
          <p:nvPr/>
        </p:nvSpPr>
        <p:spPr>
          <a:xfrm>
            <a:off x="1670180" y="1452856"/>
            <a:ext cx="5868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Du temps des visites sur le site par les clients </a:t>
            </a:r>
          </a:p>
        </p:txBody>
      </p:sp>
      <p:sp>
        <p:nvSpPr>
          <p:cNvPr id="9" name="Flèche : bas 8">
            <a:extLst>
              <a:ext uri="{FF2B5EF4-FFF2-40B4-BE49-F238E27FC236}">
                <a16:creationId xmlns:a16="http://schemas.microsoft.com/office/drawing/2014/main" id="{70216E7E-2231-D76E-D37C-3303A80EFB59}"/>
              </a:ext>
            </a:extLst>
          </p:cNvPr>
          <p:cNvSpPr/>
          <p:nvPr/>
        </p:nvSpPr>
        <p:spPr>
          <a:xfrm rot="19082150">
            <a:off x="1074402" y="4770108"/>
            <a:ext cx="484704" cy="433353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ADF40C3-D5CF-A27C-981B-750FDB0CF34E}"/>
              </a:ext>
            </a:extLst>
          </p:cNvPr>
          <p:cNvSpPr txBox="1"/>
          <p:nvPr/>
        </p:nvSpPr>
        <p:spPr>
          <a:xfrm>
            <a:off x="1474235" y="4782795"/>
            <a:ext cx="5113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Du nombre de ventes et du panier moyen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F9AF757-B4C1-E424-2B46-884A0AD1A21A}"/>
              </a:ext>
            </a:extLst>
          </p:cNvPr>
          <p:cNvSpPr txBox="1"/>
          <p:nvPr/>
        </p:nvSpPr>
        <p:spPr>
          <a:xfrm>
            <a:off x="432316" y="4802119"/>
            <a:ext cx="808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Donc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6D674B7-FFD4-C606-DD78-0AC64350A9FE}"/>
              </a:ext>
            </a:extLst>
          </p:cNvPr>
          <p:cNvSpPr txBox="1"/>
          <p:nvPr/>
        </p:nvSpPr>
        <p:spPr>
          <a:xfrm>
            <a:off x="450979" y="5293917"/>
            <a:ext cx="604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Il est possible que le CA continue de diminuer sans </a:t>
            </a:r>
          </a:p>
          <a:p>
            <a:r>
              <a:rPr lang="fr-FR" b="1" dirty="0">
                <a:solidFill>
                  <a:schemeClr val="bg1"/>
                </a:solidFill>
              </a:rPr>
              <a:t>changement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5FB979-47A5-12A1-715A-F400D3152FFF}"/>
              </a:ext>
            </a:extLst>
          </p:cNvPr>
          <p:cNvSpPr txBox="1"/>
          <p:nvPr/>
        </p:nvSpPr>
        <p:spPr>
          <a:xfrm>
            <a:off x="450979" y="2282364"/>
            <a:ext cx="679268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Les profils clients sont de plus en plus variés </a:t>
            </a:r>
          </a:p>
          <a:p>
            <a:endParaRPr lang="fr-FR" b="1" dirty="0">
              <a:solidFill>
                <a:schemeClr val="bg1"/>
              </a:solidFill>
            </a:endParaRPr>
          </a:p>
          <a:p>
            <a:r>
              <a:rPr lang="fr-FR" b="1" dirty="0">
                <a:solidFill>
                  <a:schemeClr val="bg1"/>
                </a:solidFill>
              </a:rPr>
              <a:t>Grâce à une amélioration de la campagne marketing </a:t>
            </a:r>
          </a:p>
          <a:p>
            <a:endParaRPr lang="fr-FR" b="1" dirty="0">
              <a:solidFill>
                <a:schemeClr val="bg1"/>
              </a:solidFill>
            </a:endParaRPr>
          </a:p>
          <a:p>
            <a:r>
              <a:rPr lang="fr-FR" b="1" dirty="0">
                <a:solidFill>
                  <a:schemeClr val="bg1"/>
                </a:solidFill>
              </a:rPr>
              <a:t>Mais pas forcément bien ciblée</a:t>
            </a:r>
          </a:p>
          <a:p>
            <a:endParaRPr lang="fr-FR" b="1" dirty="0">
              <a:solidFill>
                <a:schemeClr val="bg1"/>
              </a:solidFill>
            </a:endParaRPr>
          </a:p>
          <a:p>
            <a:r>
              <a:rPr lang="fr-FR" b="1" dirty="0">
                <a:solidFill>
                  <a:schemeClr val="bg1"/>
                </a:solidFill>
              </a:rPr>
              <a:t>Même si les clients passent plus de temps sur le site, ils ne trouvent pas ce qu’ils cherchent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53085717"/>
      </p:ext>
    </p:extLst>
  </p:cSld>
  <p:clrMapOvr>
    <a:masterClrMapping/>
  </p:clrMapOvr>
</p:sld>
</file>

<file path=ppt/theme/theme1.xml><?xml version="1.0" encoding="utf-8"?>
<a:theme xmlns:a="http://schemas.openxmlformats.org/drawingml/2006/main" name="SwellVTI">
  <a:themeElements>
    <a:clrScheme name="AnalogousFromDarkSeedLeftStep">
      <a:dk1>
        <a:srgbClr val="000000"/>
      </a:dk1>
      <a:lt1>
        <a:srgbClr val="FFFFFF"/>
      </a:lt1>
      <a:dk2>
        <a:srgbClr val="1B2830"/>
      </a:dk2>
      <a:lt2>
        <a:srgbClr val="F1F3F0"/>
      </a:lt2>
      <a:accent1>
        <a:srgbClr val="A629E7"/>
      </a:accent1>
      <a:accent2>
        <a:srgbClr val="592FD9"/>
      </a:accent2>
      <a:accent3>
        <a:srgbClr val="294AE7"/>
      </a:accent3>
      <a:accent4>
        <a:srgbClr val="1787D5"/>
      </a:accent4>
      <a:accent5>
        <a:srgbClr val="22BFBE"/>
      </a:accent5>
      <a:accent6>
        <a:srgbClr val="16C67B"/>
      </a:accent6>
      <a:hlink>
        <a:srgbClr val="3897A9"/>
      </a:hlink>
      <a:folHlink>
        <a:srgbClr val="7F7F7F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</TotalTime>
  <Words>269</Words>
  <Application>Microsoft Office PowerPoint</Application>
  <PresentationFormat>Grand écran</PresentationFormat>
  <Paragraphs>32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Neue Haas Grotesk Text Pro</vt:lpstr>
      <vt:lpstr>SwellVTI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Julie Rocher</dc:creator>
  <cp:lastModifiedBy>Julie ROCHER</cp:lastModifiedBy>
  <cp:revision>21</cp:revision>
  <dcterms:created xsi:type="dcterms:W3CDTF">2023-12-27T15:26:15Z</dcterms:created>
  <dcterms:modified xsi:type="dcterms:W3CDTF">2024-01-03T16:22:40Z</dcterms:modified>
</cp:coreProperties>
</file>